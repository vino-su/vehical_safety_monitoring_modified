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56" r:id="rId3"/>
    <p:sldId id="259" r:id="rId4"/>
    <p:sldId id="261" r:id="rId5"/>
    <p:sldId id="258" r:id="rId6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308"/>
        <p:guide pos="3843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handoutMaster" Target="handoutMasters/handoutMaster1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true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true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true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true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true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true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true" noRot="true" noChangeAspect="true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true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true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true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true"/>
          </p:cNvSpPr>
          <p:nvPr>
            <p:ph type="ctrTitle" hasCustomPrompt="tru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true"/>
          </p:cNvSpPr>
          <p:nvPr>
            <p:ph type="subTitle" idx="1" hasCustomPrompt="true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true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false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true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true"/>
          </p:cNvSpPr>
          <p:nvPr>
            <p:ph type="title"/>
          </p:nvPr>
        </p:nvSpPr>
        <p:spPr>
          <a:xfrm>
            <a:off x="831850" y="3751117"/>
            <a:ext cx="7321550" cy="811357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true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true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true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true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true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true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true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true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true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true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true"/>
          </p:cNvSpPr>
          <p:nvPr>
            <p:ph type="title" hasCustomPrompt="true"/>
          </p:nvPr>
        </p:nvSpPr>
        <p:spPr>
          <a:xfrm>
            <a:off x="646747" y="127000"/>
            <a:ext cx="4165200" cy="1600200"/>
          </a:xfrm>
        </p:spPr>
        <p:txBody>
          <a:bodyPr anchor="ctr" anchorCtr="false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true" noChangeAspect="true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true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true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true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true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true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true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true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true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true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1" name="文本框 24"/>
          <p:cNvSpPr txBox="true"/>
          <p:nvPr/>
        </p:nvSpPr>
        <p:spPr>
          <a:xfrm>
            <a:off x="3814128" y="141288"/>
            <a:ext cx="4564062" cy="70675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false">
            <a:spAutoFit/>
          </a:bodyPr>
          <a:p>
            <a:pPr algn="ctr"/>
            <a:r>
              <a:rPr lang="zh-CN" altLang="en-US" sz="2000">
                <a:latin typeface="方正小标宋简体" panose="02000000000000000000" charset="-122"/>
                <a:ea typeface="方正小标宋简体" panose="02000000000000000000" charset="-122"/>
              </a:rPr>
              <a:t>智慧出行应用场景道路测试与示范应用进阶流程图</a:t>
            </a:r>
            <a:endParaRPr lang="zh-CN" altLang="en-US" sz="2000">
              <a:latin typeface="方正小标宋简体" panose="02000000000000000000" charset="-122"/>
              <a:ea typeface="方正小标宋简体" panose="02000000000000000000" charset="-122"/>
            </a:endParaRPr>
          </a:p>
        </p:txBody>
      </p:sp>
      <p:sp>
        <p:nvSpPr>
          <p:cNvPr id="4" name="文本框 3"/>
          <p:cNvSpPr txBox="true"/>
          <p:nvPr/>
        </p:nvSpPr>
        <p:spPr>
          <a:xfrm>
            <a:off x="95885" y="119380"/>
            <a:ext cx="109601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latin typeface="国标黑体" panose="02000500000000000000" charset="-122"/>
                <a:ea typeface="国标黑体" panose="02000500000000000000" charset="-122"/>
                <a:cs typeface="国标黑体" panose="02000500000000000000" charset="-122"/>
              </a:rPr>
              <a:t>附件</a:t>
            </a:r>
            <a:r>
              <a:rPr lang="en-US" altLang="zh-CN" sz="1600">
                <a:latin typeface="国标黑体" panose="02000500000000000000" charset="-122"/>
                <a:ea typeface="国标黑体" panose="02000500000000000000" charset="-122"/>
                <a:cs typeface="国标黑体" panose="02000500000000000000" charset="-122"/>
              </a:rPr>
              <a:t>12-1</a:t>
            </a:r>
            <a:endParaRPr lang="en-US" altLang="zh-CN" sz="1600">
              <a:latin typeface="国标黑体" panose="02000500000000000000" charset="-122"/>
              <a:ea typeface="国标黑体" panose="02000500000000000000" charset="-122"/>
              <a:cs typeface="国标黑体" panose="02000500000000000000" charset="-122"/>
            </a:endParaRPr>
          </a:p>
        </p:txBody>
      </p:sp>
      <p:sp>
        <p:nvSpPr>
          <p:cNvPr id="5175" name="文本框 3"/>
          <p:cNvSpPr txBox="true"/>
          <p:nvPr/>
        </p:nvSpPr>
        <p:spPr>
          <a:xfrm>
            <a:off x="2379980" y="848360"/>
            <a:ext cx="1086485" cy="337185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 anchorCtr="false">
            <a:spAutoFit/>
          </a:bodyPr>
          <a:p>
            <a:pPr algn="ctr"/>
            <a:r>
              <a:rPr lang="zh-CN" altLang="en-US" sz="1600">
                <a:latin typeface="CESI楷体-GB2312" panose="02000500000000000000" charset="-122"/>
                <a:ea typeface="CESI楷体-GB2312" panose="02000500000000000000" charset="-122"/>
              </a:rPr>
              <a:t>申报流程</a:t>
            </a:r>
            <a:endParaRPr lang="zh-CN" altLang="en-US" sz="1600">
              <a:latin typeface="CESI楷体-GB2312" panose="02000500000000000000" charset="-122"/>
              <a:ea typeface="CESI楷体-GB2312" panose="02000500000000000000" charset="-122"/>
            </a:endParaRPr>
          </a:p>
        </p:txBody>
      </p:sp>
      <p:cxnSp>
        <p:nvCxnSpPr>
          <p:cNvPr id="10" name="直接连接符 9"/>
          <p:cNvCxnSpPr/>
          <p:nvPr/>
        </p:nvCxnSpPr>
        <p:spPr>
          <a:xfrm flipH="true">
            <a:off x="6092190" y="848360"/>
            <a:ext cx="8255" cy="5755005"/>
          </a:xfrm>
          <a:prstGeom prst="line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3"/>
          <p:cNvSpPr txBox="true"/>
          <p:nvPr/>
        </p:nvSpPr>
        <p:spPr>
          <a:xfrm>
            <a:off x="8728710" y="848360"/>
            <a:ext cx="1086485" cy="337185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 anchorCtr="false">
            <a:spAutoFit/>
          </a:bodyPr>
          <a:p>
            <a:pPr algn="ctr"/>
            <a:r>
              <a:rPr lang="zh-CN" altLang="en-US" sz="1600">
                <a:latin typeface="CESI楷体-GB2312" panose="02000500000000000000" charset="-122"/>
                <a:ea typeface="CESI楷体-GB2312" panose="02000500000000000000" charset="-122"/>
              </a:rPr>
              <a:t>审批流程</a:t>
            </a:r>
            <a:endParaRPr lang="zh-CN" altLang="en-US" sz="1600">
              <a:latin typeface="CESI楷体-GB2312" panose="02000500000000000000" charset="-122"/>
              <a:ea typeface="CESI楷体-GB2312" panose="02000500000000000000" charset="-122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7549515" y="1426845"/>
            <a:ext cx="3445510" cy="4823460"/>
            <a:chOff x="14263" y="1204"/>
            <a:chExt cx="4603" cy="8311"/>
          </a:xfrm>
        </p:grpSpPr>
        <p:sp>
          <p:nvSpPr>
            <p:cNvPr id="34" name="文本框 33"/>
            <p:cNvSpPr txBox="true"/>
            <p:nvPr/>
          </p:nvSpPr>
          <p:spPr>
            <a:xfrm>
              <a:off x="14473" y="3642"/>
              <a:ext cx="3007" cy="68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algn="ctr" fontAlgn="auto"/>
              <a:r>
                <a:rPr lang="zh-CN" altLang="en-US" sz="1000" b="1" noProof="1"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" panose="02080604020202020204" pitchFamily="34" charset="0"/>
                  <a:ea typeface="宋体" pitchFamily="2" charset="-122"/>
                  <a:cs typeface="+mn-cs"/>
                  <a:sym typeface="+mn-ea"/>
                </a:rPr>
                <a:t>第三方专业管理机构</a:t>
              </a:r>
              <a:endParaRPr lang="zh-CN" altLang="en-US" sz="1000" b="1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 algn="ctr" fontAlgn="auto"/>
              <a:r>
                <a:rPr lang="zh-CN" altLang="en-US" sz="1000" b="1" noProof="1"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" panose="02080604020202020204" pitchFamily="34" charset="0"/>
                  <a:ea typeface="宋体" pitchFamily="2" charset="-122"/>
                  <a:cs typeface="+mn-cs"/>
                  <a:sym typeface="+mn-ea"/>
                </a:rPr>
                <a:t>组织召开专家评审会论证</a:t>
              </a:r>
              <a:endParaRPr lang="zh-CN" altLang="en-US" sz="1000" b="1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endParaRPr>
            </a:p>
          </p:txBody>
        </p:sp>
        <p:grpSp>
          <p:nvGrpSpPr>
            <p:cNvPr id="43" name="组合 56"/>
            <p:cNvGrpSpPr/>
            <p:nvPr/>
          </p:nvGrpSpPr>
          <p:grpSpPr>
            <a:xfrm rot="0">
              <a:off x="14263" y="1204"/>
              <a:ext cx="3587" cy="8311"/>
              <a:chOff x="14415" y="850"/>
              <a:chExt cx="3586" cy="8310"/>
            </a:xfrm>
          </p:grpSpPr>
          <p:sp>
            <p:nvSpPr>
              <p:cNvPr id="51" name="矩形 50"/>
              <p:cNvSpPr/>
              <p:nvPr/>
            </p:nvSpPr>
            <p:spPr>
              <a:xfrm>
                <a:off x="14616" y="4374"/>
                <a:ext cx="3095" cy="855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>
                <a:scene3d>
                  <a:camera prst="orthographicFront"/>
                  <a:lightRig rig="threePt" dir="t"/>
                </a:scene3d>
              </a:bodyPr>
              <a:p>
                <a:pPr algn="ctr" fontAlgn="auto"/>
                <a:r>
                  <a:rPr lang="zh-CN" altLang="en-US" sz="1000" b="1" strike="noStrike" noProof="1"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论证意见提交专班办公室</a:t>
                </a:r>
                <a:endParaRPr lang="zh-CN" altLang="en-US" sz="1000" b="1" strike="noStrike" noProof="1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</p:txBody>
          </p:sp>
          <p:sp>
            <p:nvSpPr>
              <p:cNvPr id="59" name="矩形 58"/>
              <p:cNvSpPr/>
              <p:nvPr/>
            </p:nvSpPr>
            <p:spPr>
              <a:xfrm>
                <a:off x="14613" y="6712"/>
                <a:ext cx="3098" cy="1285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>
                <a:scene3d>
                  <a:camera prst="orthographicFront"/>
                  <a:lightRig rig="threePt" dir="t"/>
                </a:scene3d>
              </a:bodyPr>
              <a:p>
                <a:pPr algn="ctr" fontAlgn="auto"/>
                <a:r>
                  <a:rPr lang="zh-CN" altLang="en-US" sz="1000" b="1" strike="noStrike" noProof="1"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到公安机关申领号牌</a:t>
                </a:r>
                <a:endParaRPr lang="zh-CN" altLang="en-US" sz="1000" b="1" strike="noStrike" noProof="1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  <a:p>
                <a:pPr algn="ctr" fontAlgn="auto"/>
                <a:r>
                  <a:rPr lang="zh-CN" altLang="en-US" sz="1000" b="1" strike="noStrike" noProof="1"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（其中，商业化试点阶段号牌有效期为</a:t>
                </a:r>
                <a:r>
                  <a:rPr lang="en-US" altLang="zh-CN" sz="1000" b="1" strike="noStrike" noProof="1"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6</a:t>
                </a:r>
                <a:r>
                  <a:rPr lang="zh-CN" altLang="en-US" sz="1000" b="1" strike="noStrike" noProof="1"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个月，其他阶段号牌有效期为</a:t>
                </a:r>
                <a:r>
                  <a:rPr lang="en-US" altLang="zh-CN" sz="1000" b="1" strike="noStrike" noProof="1"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12</a:t>
                </a:r>
                <a:r>
                  <a:rPr lang="zh-CN" altLang="en-US" sz="1000" b="1" strike="noStrike" noProof="1"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个月）</a:t>
                </a:r>
                <a:endParaRPr lang="zh-CN" altLang="en-US" sz="1000" b="1" strike="noStrike" noProof="1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</p:txBody>
          </p:sp>
          <p:sp>
            <p:nvSpPr>
              <p:cNvPr id="60" name="矩形 59"/>
              <p:cNvSpPr/>
              <p:nvPr/>
            </p:nvSpPr>
            <p:spPr>
              <a:xfrm>
                <a:off x="14582" y="8305"/>
                <a:ext cx="3095" cy="855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>
                <a:scene3d>
                  <a:camera prst="orthographicFront"/>
                  <a:lightRig rig="threePt" dir="t"/>
                </a:scene3d>
              </a:bodyPr>
              <a:p>
                <a:pPr algn="ctr" fontAlgn="auto"/>
                <a:r>
                  <a:rPr lang="zh-CN" altLang="en-US" sz="1000" b="1" strike="noStrike" noProof="1"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安装监控装置并接受第三方</a:t>
                </a:r>
                <a:endParaRPr lang="zh-CN" altLang="en-US" sz="1000" b="1" strike="noStrike" noProof="1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  <a:p>
                <a:pPr algn="ctr" fontAlgn="auto"/>
                <a:r>
                  <a:rPr lang="zh-CN" altLang="en-US" sz="1000" b="1" strike="noStrike" noProof="1"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专业管理机构日常监管</a:t>
                </a:r>
                <a:endParaRPr lang="zh-CN" altLang="en-US" sz="1000" b="1" strike="noStrike" noProof="1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</p:txBody>
          </p:sp>
          <p:grpSp>
            <p:nvGrpSpPr>
              <p:cNvPr id="61" name="组合 55"/>
              <p:cNvGrpSpPr/>
              <p:nvPr/>
            </p:nvGrpSpPr>
            <p:grpSpPr>
              <a:xfrm>
                <a:off x="16143" y="1706"/>
                <a:ext cx="40" cy="6599"/>
                <a:chOff x="16143" y="1706"/>
                <a:chExt cx="40" cy="6599"/>
              </a:xfrm>
            </p:grpSpPr>
            <p:cxnSp>
              <p:nvCxnSpPr>
                <p:cNvPr id="62" name="直接箭头连接符 61"/>
                <p:cNvCxnSpPr>
                  <a:endCxn id="83" idx="0"/>
                </p:cNvCxnSpPr>
                <p:nvPr/>
              </p:nvCxnSpPr>
              <p:spPr>
                <a:xfrm>
                  <a:off x="16148" y="1706"/>
                  <a:ext cx="10" cy="308"/>
                </a:xfrm>
                <a:prstGeom prst="straightConnector1">
                  <a:avLst/>
                </a:prstGeom>
                <a:ln w="28575" cmpd="sng">
                  <a:solidFill>
                    <a:schemeClr val="accent1">
                      <a:shade val="50000"/>
                    </a:schemeClr>
                  </a:solidFill>
                  <a:prstDash val="solid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" name="直接箭头连接符 62"/>
                <p:cNvCxnSpPr>
                  <a:endCxn id="83" idx="0"/>
                </p:cNvCxnSpPr>
                <p:nvPr/>
              </p:nvCxnSpPr>
              <p:spPr>
                <a:xfrm>
                  <a:off x="16143" y="2866"/>
                  <a:ext cx="10" cy="308"/>
                </a:xfrm>
                <a:prstGeom prst="straightConnector1">
                  <a:avLst/>
                </a:prstGeom>
                <a:ln w="28575" cmpd="sng">
                  <a:solidFill>
                    <a:schemeClr val="accent1">
                      <a:shade val="50000"/>
                    </a:schemeClr>
                  </a:solidFill>
                  <a:prstDash val="solid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4" name="直接箭头连接符 63"/>
                <p:cNvCxnSpPr>
                  <a:endCxn id="83" idx="0"/>
                </p:cNvCxnSpPr>
                <p:nvPr/>
              </p:nvCxnSpPr>
              <p:spPr>
                <a:xfrm>
                  <a:off x="16153" y="4068"/>
                  <a:ext cx="10" cy="310"/>
                </a:xfrm>
                <a:prstGeom prst="straightConnector1">
                  <a:avLst/>
                </a:prstGeom>
                <a:ln w="28575" cmpd="sng">
                  <a:solidFill>
                    <a:schemeClr val="accent1">
                      <a:shade val="50000"/>
                    </a:schemeClr>
                  </a:solidFill>
                  <a:prstDash val="solid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" name="直接箭头连接符 65"/>
                <p:cNvCxnSpPr>
                  <a:endCxn id="83" idx="0"/>
                </p:cNvCxnSpPr>
                <p:nvPr/>
              </p:nvCxnSpPr>
              <p:spPr>
                <a:xfrm>
                  <a:off x="16163" y="5258"/>
                  <a:ext cx="10" cy="310"/>
                </a:xfrm>
                <a:prstGeom prst="straightConnector1">
                  <a:avLst/>
                </a:prstGeom>
                <a:ln w="28575" cmpd="sng">
                  <a:solidFill>
                    <a:schemeClr val="accent1">
                      <a:shade val="50000"/>
                    </a:schemeClr>
                  </a:solidFill>
                  <a:prstDash val="solid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7" name="直接箭头连接符 66"/>
                <p:cNvCxnSpPr>
                  <a:endCxn id="83" idx="0"/>
                </p:cNvCxnSpPr>
                <p:nvPr/>
              </p:nvCxnSpPr>
              <p:spPr>
                <a:xfrm>
                  <a:off x="16173" y="6393"/>
                  <a:ext cx="10" cy="310"/>
                </a:xfrm>
                <a:prstGeom prst="straightConnector1">
                  <a:avLst/>
                </a:prstGeom>
                <a:ln w="28575" cmpd="sng">
                  <a:solidFill>
                    <a:schemeClr val="accent1">
                      <a:shade val="50000"/>
                    </a:schemeClr>
                  </a:solidFill>
                  <a:prstDash val="solid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8" name="直接箭头连接符 67"/>
                <p:cNvCxnSpPr>
                  <a:endCxn id="83" idx="0"/>
                </p:cNvCxnSpPr>
                <p:nvPr/>
              </p:nvCxnSpPr>
              <p:spPr>
                <a:xfrm>
                  <a:off x="16148" y="7997"/>
                  <a:ext cx="10" cy="308"/>
                </a:xfrm>
                <a:prstGeom prst="straightConnector1">
                  <a:avLst/>
                </a:prstGeom>
                <a:ln w="28575" cmpd="sng">
                  <a:solidFill>
                    <a:schemeClr val="accent1">
                      <a:shade val="50000"/>
                    </a:schemeClr>
                  </a:solidFill>
                  <a:prstDash val="solid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9" name="矩形 68"/>
              <p:cNvSpPr/>
              <p:nvPr/>
            </p:nvSpPr>
            <p:spPr>
              <a:xfrm>
                <a:off x="14613" y="850"/>
                <a:ext cx="3096" cy="855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>
                <a:scene3d>
                  <a:camera prst="orthographicFront"/>
                  <a:lightRig rig="threePt" dir="t"/>
                </a:scene3d>
              </a:bodyPr>
              <a:p>
                <a:pPr algn="ctr" fontAlgn="auto"/>
                <a:r>
                  <a:rPr lang="zh-CN" altLang="en-US" sz="1000" b="1" strike="noStrike" noProof="1"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第三方专业管理机构</a:t>
                </a:r>
                <a:endParaRPr lang="zh-CN" altLang="en-US" sz="1000" b="1" strike="noStrike" noProof="1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  <a:p>
                <a:pPr algn="ctr" fontAlgn="auto"/>
                <a:r>
                  <a:rPr lang="zh-CN" altLang="en-US" sz="1000" b="1" strike="noStrike" noProof="1"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初</a:t>
                </a:r>
                <a:r>
                  <a:rPr lang="en-US" altLang="zh-CN" sz="1000" b="1" strike="noStrike" noProof="1"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  </a:t>
                </a:r>
                <a:r>
                  <a:rPr lang="zh-CN" altLang="en-US" sz="1000" b="1" strike="noStrike" noProof="1"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审</a:t>
                </a:r>
                <a:endParaRPr lang="zh-CN" altLang="en-US" sz="1000" b="1" strike="noStrike" noProof="1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</p:txBody>
          </p:sp>
          <p:grpSp>
            <p:nvGrpSpPr>
              <p:cNvPr id="70" name="组合 42"/>
              <p:cNvGrpSpPr/>
              <p:nvPr/>
            </p:nvGrpSpPr>
            <p:grpSpPr>
              <a:xfrm>
                <a:off x="14415" y="1986"/>
                <a:ext cx="3586" cy="881"/>
                <a:chOff x="8894" y="9156"/>
                <a:chExt cx="3283" cy="970"/>
              </a:xfrm>
            </p:grpSpPr>
            <p:sp>
              <p:nvSpPr>
                <p:cNvPr id="71" name="文本框 70"/>
                <p:cNvSpPr txBox="true"/>
                <p:nvPr/>
              </p:nvSpPr>
              <p:spPr>
                <a:xfrm>
                  <a:off x="8894" y="9327"/>
                  <a:ext cx="3283" cy="756"/>
                </a:xfrm>
                <a:prstGeom prst="rect">
                  <a:avLst/>
                </a:prstGeom>
                <a:noFill/>
              </p:spPr>
              <p:txBody>
                <a:bodyPr wrap="square" rtlCol="0" anchor="t">
                  <a:spAutoFit/>
                </a:bodyPr>
                <a:p>
                  <a:pPr algn="ctr" fontAlgn="auto"/>
                  <a:r>
                    <a:rPr lang="zh-CN" altLang="en-US" sz="1000" b="1" noProof="1">
                      <a:effectLst>
                        <a:outerShdw blurRad="38100" dist="19050" dir="2700000" algn="tl" rotWithShape="0">
                          <a:schemeClr val="dk1">
                            <a:alpha val="40000"/>
                          </a:schemeClr>
                        </a:outerShdw>
                      </a:effectLst>
                      <a:latin typeface="Arial" panose="02080604020202020204" pitchFamily="34" charset="0"/>
                      <a:ea typeface="宋体" pitchFamily="2" charset="-122"/>
                      <a:cs typeface="+mn-cs"/>
                      <a:sym typeface="+mn-ea"/>
                    </a:rPr>
                    <a:t>初审意见五个工作日内</a:t>
                  </a:r>
                  <a:endParaRPr lang="zh-CN" altLang="en-US" sz="1000" b="1" noProof="1"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endParaRPr>
                </a:p>
                <a:p>
                  <a:pPr algn="ctr" fontAlgn="auto"/>
                  <a:r>
                    <a:rPr lang="zh-CN" altLang="en-US" sz="1000" b="1" noProof="1">
                      <a:effectLst>
                        <a:outerShdw blurRad="38100" dist="19050" dir="2700000" algn="tl" rotWithShape="0">
                          <a:schemeClr val="dk1">
                            <a:alpha val="40000"/>
                          </a:schemeClr>
                        </a:outerShdw>
                      </a:effectLst>
                      <a:latin typeface="Arial" panose="02080604020202020204" pitchFamily="34" charset="0"/>
                      <a:ea typeface="宋体" pitchFamily="2" charset="-122"/>
                      <a:cs typeface="+mn-cs"/>
                      <a:sym typeface="+mn-ea"/>
                    </a:rPr>
                    <a:t>报专班办公室</a:t>
                  </a:r>
                  <a:endParaRPr lang="zh-CN" altLang="en-US" sz="1000" b="1" noProof="1"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sym typeface="+mn-ea"/>
                  </a:endParaRPr>
                </a:p>
              </p:txBody>
            </p:sp>
            <p:sp>
              <p:nvSpPr>
                <p:cNvPr id="72" name="菱形 71"/>
                <p:cNvSpPr/>
                <p:nvPr/>
              </p:nvSpPr>
              <p:spPr>
                <a:xfrm>
                  <a:off x="9094" y="9156"/>
                  <a:ext cx="2800" cy="970"/>
                </a:xfrm>
                <a:prstGeom prst="diamond">
                  <a:avLst/>
                </a:prstGeom>
                <a:noFill/>
                <a:ln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 fontAlgn="base"/>
                  <a:endParaRPr lang="zh-CN" altLang="en-US" strike="noStrike" noProof="1"/>
                </a:p>
              </p:txBody>
            </p:sp>
          </p:grpSp>
          <p:sp>
            <p:nvSpPr>
              <p:cNvPr id="73" name="菱形 72"/>
              <p:cNvSpPr/>
              <p:nvPr/>
            </p:nvSpPr>
            <p:spPr>
              <a:xfrm>
                <a:off x="14619" y="3160"/>
                <a:ext cx="3058" cy="881"/>
              </a:xfrm>
              <a:prstGeom prst="diamond">
                <a:avLst/>
              </a:prstGeom>
              <a:noFill/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 fontAlgn="base"/>
                <a:endParaRPr lang="zh-CN" altLang="en-US" strike="noStrike" noProof="1"/>
              </a:p>
            </p:txBody>
          </p:sp>
          <p:grpSp>
            <p:nvGrpSpPr>
              <p:cNvPr id="77" name="组合 49"/>
              <p:cNvGrpSpPr/>
              <p:nvPr/>
            </p:nvGrpSpPr>
            <p:grpSpPr>
              <a:xfrm>
                <a:off x="14635" y="5535"/>
                <a:ext cx="3058" cy="881"/>
                <a:chOff x="9600" y="9022"/>
                <a:chExt cx="3058" cy="881"/>
              </a:xfrm>
            </p:grpSpPr>
            <p:sp>
              <p:nvSpPr>
                <p:cNvPr id="79" name="文本框 78"/>
                <p:cNvSpPr txBox="true"/>
                <p:nvPr/>
              </p:nvSpPr>
              <p:spPr>
                <a:xfrm>
                  <a:off x="9878" y="9149"/>
                  <a:ext cx="2499" cy="687"/>
                </a:xfrm>
                <a:prstGeom prst="rect">
                  <a:avLst/>
                </a:prstGeom>
                <a:noFill/>
              </p:spPr>
              <p:txBody>
                <a:bodyPr wrap="square" rtlCol="0" anchor="t">
                  <a:spAutoFit/>
                </a:bodyPr>
                <a:p>
                  <a:pPr algn="ctr" fontAlgn="auto"/>
                  <a:r>
                    <a:rPr lang="zh-CN" altLang="en-US" sz="1000" b="1" noProof="1">
                      <a:effectLst>
                        <a:outerShdw blurRad="38100" dist="19050" dir="2700000" algn="tl" rotWithShape="0">
                          <a:schemeClr val="dk1">
                            <a:alpha val="40000"/>
                          </a:schemeClr>
                        </a:outerShdw>
                      </a:effectLst>
                      <a:latin typeface="Arial" panose="02080604020202020204" pitchFamily="34" charset="0"/>
                      <a:ea typeface="宋体" pitchFamily="2" charset="-122"/>
                      <a:cs typeface="+mn-cs"/>
                      <a:sym typeface="+mn-ea"/>
                    </a:rPr>
                    <a:t>专班办公室提请专班领导</a:t>
                  </a:r>
                  <a:endParaRPr lang="zh-CN" altLang="en-US" sz="1000" b="1" noProof="1"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sym typeface="+mn-ea"/>
                  </a:endParaRPr>
                </a:p>
                <a:p>
                  <a:pPr algn="ctr" fontAlgn="auto"/>
                  <a:r>
                    <a:rPr lang="zh-CN" altLang="en-US" sz="1000" b="1" noProof="1">
                      <a:effectLst>
                        <a:outerShdw blurRad="38100" dist="19050" dir="2700000" algn="tl" rotWithShape="0">
                          <a:schemeClr val="dk1">
                            <a:alpha val="40000"/>
                          </a:schemeClr>
                        </a:outerShdw>
                      </a:effectLst>
                      <a:latin typeface="Arial" panose="02080604020202020204" pitchFamily="34" charset="0"/>
                      <a:ea typeface="宋体" pitchFamily="2" charset="-122"/>
                      <a:cs typeface="+mn-cs"/>
                      <a:sym typeface="+mn-ea"/>
                    </a:rPr>
                    <a:t>召开专题会审议</a:t>
                  </a:r>
                  <a:endParaRPr lang="zh-CN" altLang="en-US" sz="1000" b="1" noProof="1"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sym typeface="+mn-ea"/>
                  </a:endParaRPr>
                </a:p>
              </p:txBody>
            </p:sp>
            <p:sp>
              <p:nvSpPr>
                <p:cNvPr id="80" name="菱形 79"/>
                <p:cNvSpPr/>
                <p:nvPr/>
              </p:nvSpPr>
              <p:spPr>
                <a:xfrm>
                  <a:off x="9600" y="9022"/>
                  <a:ext cx="3058" cy="881"/>
                </a:xfrm>
                <a:prstGeom prst="diamond">
                  <a:avLst/>
                </a:prstGeom>
                <a:noFill/>
                <a:ln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 fontAlgn="base"/>
                  <a:endParaRPr lang="zh-CN" altLang="en-US" strike="noStrike" noProof="1"/>
                </a:p>
              </p:txBody>
            </p:sp>
          </p:grpSp>
        </p:grpSp>
        <p:cxnSp>
          <p:nvCxnSpPr>
            <p:cNvPr id="81" name="肘形连接符 80"/>
            <p:cNvCxnSpPr>
              <a:stCxn id="72" idx="3"/>
              <a:endCxn id="69" idx="3"/>
            </p:cNvCxnSpPr>
            <p:nvPr/>
          </p:nvCxnSpPr>
          <p:spPr>
            <a:xfrm flipV="true">
              <a:off x="17541" y="1632"/>
              <a:ext cx="17" cy="1150"/>
            </a:xfrm>
            <a:prstGeom prst="bentConnector3">
              <a:avLst>
                <a:gd name="adj1" fmla="val 2305882"/>
              </a:avLst>
            </a:prstGeom>
            <a:ln w="28575" cmpd="sng">
              <a:solidFill>
                <a:schemeClr val="accent1">
                  <a:shade val="50000"/>
                </a:schemeClr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肘形连接符 81"/>
            <p:cNvCxnSpPr>
              <a:stCxn id="73" idx="3"/>
              <a:endCxn id="69" idx="3"/>
            </p:cNvCxnSpPr>
            <p:nvPr/>
          </p:nvCxnSpPr>
          <p:spPr>
            <a:xfrm flipV="true">
              <a:off x="17526" y="1632"/>
              <a:ext cx="32" cy="2325"/>
            </a:xfrm>
            <a:prstGeom prst="bentConnector3">
              <a:avLst>
                <a:gd name="adj1" fmla="val 2415625"/>
              </a:avLst>
            </a:prstGeom>
            <a:ln w="28575" cmpd="sng">
              <a:solidFill>
                <a:schemeClr val="accent1">
                  <a:shade val="50000"/>
                </a:schemeClr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肘形连接符 82"/>
            <p:cNvCxnSpPr>
              <a:stCxn id="80" idx="3"/>
              <a:endCxn id="69" idx="3"/>
            </p:cNvCxnSpPr>
            <p:nvPr/>
          </p:nvCxnSpPr>
          <p:spPr>
            <a:xfrm flipV="true">
              <a:off x="17541" y="1632"/>
              <a:ext cx="17" cy="4700"/>
            </a:xfrm>
            <a:prstGeom prst="bentConnector3">
              <a:avLst>
                <a:gd name="adj1" fmla="val 7306250"/>
              </a:avLst>
            </a:prstGeom>
            <a:ln w="28575" cmpd="sng">
              <a:solidFill>
                <a:schemeClr val="accent1">
                  <a:shade val="50000"/>
                </a:schemeClr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文本框 58"/>
            <p:cNvSpPr txBox="true"/>
            <p:nvPr/>
          </p:nvSpPr>
          <p:spPr>
            <a:xfrm>
              <a:off x="15543" y="3107"/>
              <a:ext cx="947" cy="42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false">
              <a:spAutoFit/>
            </a:bodyPr>
            <a:p>
              <a:r>
                <a:rPr lang="zh-CN" altLang="en-US" sz="1000">
                  <a:latin typeface="国标黑体" panose="02000500000000000000" charset="-122"/>
                  <a:ea typeface="国标黑体" panose="02000500000000000000" charset="-122"/>
                  <a:sym typeface="宋体" pitchFamily="2" charset="-122"/>
                </a:rPr>
                <a:t>同</a:t>
              </a:r>
              <a:r>
                <a:rPr lang="en-US" altLang="zh-CN" sz="1000">
                  <a:latin typeface="国标黑体" panose="02000500000000000000" charset="-122"/>
                  <a:ea typeface="国标黑体" panose="02000500000000000000" charset="-122"/>
                  <a:sym typeface="宋体" pitchFamily="2" charset="-122"/>
                </a:rPr>
                <a:t>    </a:t>
              </a:r>
              <a:r>
                <a:rPr lang="zh-CN" altLang="en-US" sz="1000">
                  <a:latin typeface="国标黑体" panose="02000500000000000000" charset="-122"/>
                  <a:ea typeface="国标黑体" panose="02000500000000000000" charset="-122"/>
                  <a:sym typeface="宋体" pitchFamily="2" charset="-122"/>
                </a:rPr>
                <a:t>意</a:t>
              </a:r>
              <a:endParaRPr lang="zh-CN" altLang="en-US" sz="1000">
                <a:latin typeface="国标黑体" panose="02000500000000000000" charset="-122"/>
                <a:ea typeface="国标黑体" panose="02000500000000000000" charset="-122"/>
              </a:endParaRPr>
            </a:p>
          </p:txBody>
        </p:sp>
        <p:sp>
          <p:nvSpPr>
            <p:cNvPr id="87" name="文本框 63"/>
            <p:cNvSpPr txBox="true"/>
            <p:nvPr/>
          </p:nvSpPr>
          <p:spPr>
            <a:xfrm>
              <a:off x="17561" y="1204"/>
              <a:ext cx="1145" cy="42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false">
              <a:spAutoFit/>
            </a:bodyPr>
            <a:p>
              <a:r>
                <a:rPr lang="zh-CN" altLang="zh-CN" sz="1000">
                  <a:latin typeface="国标黑体" panose="02000500000000000000" charset="-122"/>
                  <a:ea typeface="国标黑体" panose="02000500000000000000" charset="-122"/>
                  <a:sym typeface="宋体" pitchFamily="2" charset="-122"/>
                </a:rPr>
                <a:t>退回修改</a:t>
              </a:r>
              <a:endParaRPr lang="zh-CN" altLang="zh-CN" sz="1000">
                <a:latin typeface="国标黑体" panose="02000500000000000000" charset="-122"/>
                <a:ea typeface="国标黑体" panose="02000500000000000000" charset="-122"/>
              </a:endParaRPr>
            </a:p>
          </p:txBody>
        </p:sp>
        <p:sp>
          <p:nvSpPr>
            <p:cNvPr id="88" name="文本框 71"/>
            <p:cNvSpPr txBox="true"/>
            <p:nvPr/>
          </p:nvSpPr>
          <p:spPr>
            <a:xfrm>
              <a:off x="17561" y="1829"/>
              <a:ext cx="1305" cy="42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false">
              <a:spAutoFit/>
            </a:bodyPr>
            <a:p>
              <a:r>
                <a:rPr lang="zh-CN" altLang="en-US" sz="1000">
                  <a:latin typeface="国标黑体" panose="02000500000000000000" charset="-122"/>
                  <a:ea typeface="国标黑体" panose="02000500000000000000" charset="-122"/>
                  <a:sym typeface="宋体" pitchFamily="2" charset="-122"/>
                </a:rPr>
                <a:t>不</a:t>
              </a:r>
              <a:r>
                <a:rPr lang="en-US" altLang="zh-CN" sz="1000">
                  <a:latin typeface="国标黑体" panose="02000500000000000000" charset="-122"/>
                  <a:ea typeface="国标黑体" panose="02000500000000000000" charset="-122"/>
                  <a:sym typeface="宋体" pitchFamily="2" charset="-122"/>
                </a:rPr>
                <a:t>  </a:t>
              </a:r>
              <a:r>
                <a:rPr lang="zh-CN" altLang="en-US" sz="1000">
                  <a:latin typeface="国标黑体" panose="02000500000000000000" charset="-122"/>
                  <a:ea typeface="国标黑体" panose="02000500000000000000" charset="-122"/>
                  <a:sym typeface="宋体" pitchFamily="2" charset="-122"/>
                </a:rPr>
                <a:t>同</a:t>
              </a:r>
              <a:r>
                <a:rPr lang="en-US" altLang="zh-CN" sz="1000">
                  <a:latin typeface="国标黑体" panose="02000500000000000000" charset="-122"/>
                  <a:ea typeface="国标黑体" panose="02000500000000000000" charset="-122"/>
                  <a:sym typeface="宋体" pitchFamily="2" charset="-122"/>
                </a:rPr>
                <a:t>  </a:t>
              </a:r>
              <a:r>
                <a:rPr lang="zh-CN" altLang="en-US" sz="1000">
                  <a:latin typeface="国标黑体" panose="02000500000000000000" charset="-122"/>
                  <a:ea typeface="国标黑体" panose="02000500000000000000" charset="-122"/>
                  <a:sym typeface="宋体" pitchFamily="2" charset="-122"/>
                </a:rPr>
                <a:t>意</a:t>
              </a:r>
              <a:endParaRPr lang="zh-CN" altLang="en-US" sz="1000">
                <a:latin typeface="国标黑体" panose="02000500000000000000" charset="-122"/>
                <a:ea typeface="国标黑体" panose="02000500000000000000" charset="-122"/>
              </a:endParaRPr>
            </a:p>
          </p:txBody>
        </p:sp>
      </p:grpSp>
      <p:sp>
        <p:nvSpPr>
          <p:cNvPr id="89" name="文本框 58"/>
          <p:cNvSpPr txBox="true"/>
          <p:nvPr/>
        </p:nvSpPr>
        <p:spPr>
          <a:xfrm>
            <a:off x="8492401" y="3227250"/>
            <a:ext cx="708863" cy="244916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false">
            <a:spAutoFit/>
          </a:bodyPr>
          <a:p>
            <a:r>
              <a:rPr lang="zh-CN" altLang="en-US" sz="1000">
                <a:latin typeface="国标黑体" panose="02000500000000000000" charset="-122"/>
                <a:ea typeface="国标黑体" panose="02000500000000000000" charset="-122"/>
                <a:sym typeface="宋体" pitchFamily="2" charset="-122"/>
              </a:rPr>
              <a:t>同</a:t>
            </a:r>
            <a:r>
              <a:rPr lang="en-US" altLang="zh-CN" sz="1000">
                <a:latin typeface="国标黑体" panose="02000500000000000000" charset="-122"/>
                <a:ea typeface="国标黑体" panose="02000500000000000000" charset="-122"/>
                <a:sym typeface="宋体" pitchFamily="2" charset="-122"/>
              </a:rPr>
              <a:t>    </a:t>
            </a:r>
            <a:r>
              <a:rPr lang="zh-CN" altLang="en-US" sz="1000">
                <a:latin typeface="国标黑体" panose="02000500000000000000" charset="-122"/>
                <a:ea typeface="国标黑体" panose="02000500000000000000" charset="-122"/>
                <a:sym typeface="宋体" pitchFamily="2" charset="-122"/>
              </a:rPr>
              <a:t>意</a:t>
            </a:r>
            <a:endParaRPr lang="zh-CN" altLang="en-US" sz="1000">
              <a:latin typeface="国标黑体" panose="02000500000000000000" charset="-122"/>
              <a:ea typeface="国标黑体" panose="02000500000000000000" charset="-122"/>
            </a:endParaRPr>
          </a:p>
        </p:txBody>
      </p:sp>
      <p:sp>
        <p:nvSpPr>
          <p:cNvPr id="90" name="文本框 58"/>
          <p:cNvSpPr txBox="true"/>
          <p:nvPr/>
        </p:nvSpPr>
        <p:spPr>
          <a:xfrm>
            <a:off x="8503196" y="4584245"/>
            <a:ext cx="708863" cy="244916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false">
            <a:spAutoFit/>
          </a:bodyPr>
          <a:p>
            <a:r>
              <a:rPr lang="zh-CN" altLang="en-US" sz="1000">
                <a:latin typeface="国标黑体" panose="02000500000000000000" charset="-122"/>
                <a:ea typeface="国标黑体" panose="02000500000000000000" charset="-122"/>
                <a:sym typeface="宋体" pitchFamily="2" charset="-122"/>
              </a:rPr>
              <a:t>同</a:t>
            </a:r>
            <a:r>
              <a:rPr lang="en-US" altLang="zh-CN" sz="1000">
                <a:latin typeface="国标黑体" panose="02000500000000000000" charset="-122"/>
                <a:ea typeface="国标黑体" panose="02000500000000000000" charset="-122"/>
                <a:sym typeface="宋体" pitchFamily="2" charset="-122"/>
              </a:rPr>
              <a:t>    </a:t>
            </a:r>
            <a:r>
              <a:rPr lang="zh-CN" altLang="en-US" sz="1000">
                <a:latin typeface="国标黑体" panose="02000500000000000000" charset="-122"/>
                <a:ea typeface="国标黑体" panose="02000500000000000000" charset="-122"/>
                <a:sym typeface="宋体" pitchFamily="2" charset="-122"/>
              </a:rPr>
              <a:t>意</a:t>
            </a:r>
            <a:endParaRPr lang="zh-CN" altLang="en-US" sz="1000">
              <a:latin typeface="国标黑体" panose="02000500000000000000" charset="-122"/>
              <a:ea typeface="国标黑体" panose="02000500000000000000" charset="-122"/>
            </a:endParaRPr>
          </a:p>
        </p:txBody>
      </p:sp>
      <p:grpSp>
        <p:nvGrpSpPr>
          <p:cNvPr id="115" name="组合 114"/>
          <p:cNvGrpSpPr/>
          <p:nvPr/>
        </p:nvGrpSpPr>
        <p:grpSpPr>
          <a:xfrm>
            <a:off x="783590" y="1426845"/>
            <a:ext cx="4457065" cy="4498340"/>
            <a:chOff x="402" y="2349"/>
            <a:chExt cx="7019" cy="7084"/>
          </a:xfrm>
        </p:grpSpPr>
        <p:grpSp>
          <p:nvGrpSpPr>
            <p:cNvPr id="96" name="组合 95"/>
            <p:cNvGrpSpPr/>
            <p:nvPr/>
          </p:nvGrpSpPr>
          <p:grpSpPr>
            <a:xfrm>
              <a:off x="5175" y="2349"/>
              <a:ext cx="2247" cy="7085"/>
              <a:chOff x="3481" y="2501"/>
              <a:chExt cx="2247" cy="7085"/>
            </a:xfrm>
          </p:grpSpPr>
          <p:sp>
            <p:nvSpPr>
              <p:cNvPr id="16" name="矩形 15"/>
              <p:cNvSpPr/>
              <p:nvPr/>
            </p:nvSpPr>
            <p:spPr>
              <a:xfrm>
                <a:off x="3484" y="7175"/>
                <a:ext cx="2245" cy="855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>
                <a:scene3d>
                  <a:camera prst="orthographicFront"/>
                  <a:lightRig rig="threePt" dir="t"/>
                </a:scene3d>
              </a:bodyPr>
              <a:p>
                <a:pPr algn="ctr" fontAlgn="auto"/>
                <a:r>
                  <a:rPr lang="zh-CN" altLang="en-US" sz="1200" b="1" strike="noStrike" noProof="1">
                    <a:solidFill>
                      <a:schemeClr val="tx1"/>
                    </a:solidFill>
                    <a:effectLst/>
                  </a:rPr>
                  <a:t>远程驾驶示范应用</a:t>
                </a:r>
                <a:endParaRPr lang="zh-CN" altLang="en-US" sz="1200" b="1" strike="noStrike" noProof="1">
                  <a:solidFill>
                    <a:schemeClr val="tx1"/>
                  </a:solidFill>
                  <a:effectLst/>
                </a:endParaRPr>
              </a:p>
            </p:txBody>
          </p:sp>
          <p:sp>
            <p:nvSpPr>
              <p:cNvPr id="55" name="矩形 54"/>
              <p:cNvSpPr/>
              <p:nvPr/>
            </p:nvSpPr>
            <p:spPr>
              <a:xfrm>
                <a:off x="3481" y="5618"/>
                <a:ext cx="2245" cy="855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>
                <a:scene3d>
                  <a:camera prst="orthographicFront"/>
                  <a:lightRig rig="threePt" dir="t"/>
                </a:scene3d>
              </a:bodyPr>
              <a:p>
                <a:pPr algn="ctr" fontAlgn="auto"/>
                <a:r>
                  <a:rPr lang="zh-CN" altLang="en-US" sz="1200" b="1" strike="noStrike" noProof="1">
                    <a:solidFill>
                      <a:schemeClr val="tx1"/>
                    </a:solidFill>
                    <a:effectLst/>
                  </a:rPr>
                  <a:t>远程驾驶道路测试</a:t>
                </a:r>
                <a:endParaRPr lang="zh-CN" altLang="en-US" sz="1200" b="1" strike="noStrike" noProof="1">
                  <a:solidFill>
                    <a:schemeClr val="tx1"/>
                  </a:solidFill>
                  <a:effectLst/>
                </a:endParaRPr>
              </a:p>
            </p:txBody>
          </p:sp>
          <p:sp>
            <p:nvSpPr>
              <p:cNvPr id="56" name="矩形 55"/>
              <p:cNvSpPr/>
              <p:nvPr/>
            </p:nvSpPr>
            <p:spPr>
              <a:xfrm>
                <a:off x="3482" y="4058"/>
                <a:ext cx="2245" cy="855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>
                <a:scene3d>
                  <a:camera prst="orthographicFront"/>
                  <a:lightRig rig="threePt" dir="t"/>
                </a:scene3d>
              </a:bodyPr>
              <a:p>
                <a:pPr algn="ctr" fontAlgn="auto"/>
                <a:r>
                  <a:rPr lang="zh-CN" altLang="en-US" sz="1200" b="1" strike="noStrike" noProof="1">
                    <a:solidFill>
                      <a:schemeClr val="tx1"/>
                    </a:solidFill>
                    <a:effectLst/>
                  </a:rPr>
                  <a:t>道路测试</a:t>
                </a:r>
                <a:endParaRPr lang="zh-CN" altLang="en-US" sz="1200" b="1" strike="noStrike" noProof="1">
                  <a:solidFill>
                    <a:schemeClr val="tx1"/>
                  </a:solidFill>
                  <a:effectLst/>
                </a:endParaRPr>
              </a:p>
              <a:p>
                <a:pPr algn="ctr" fontAlgn="auto"/>
                <a:r>
                  <a:rPr lang="zh-CN" altLang="en-US" sz="1200" b="1" strike="noStrike" noProof="1">
                    <a:solidFill>
                      <a:schemeClr val="tx1"/>
                    </a:solidFill>
                    <a:effectLst/>
                  </a:rPr>
                  <a:t>（车内有安全员）</a:t>
                </a:r>
                <a:endParaRPr lang="zh-CN" altLang="en-US" sz="1200" b="1" strike="noStrike" noProof="1">
                  <a:solidFill>
                    <a:schemeClr val="tx1"/>
                  </a:solidFill>
                  <a:effectLst/>
                </a:endParaRPr>
              </a:p>
            </p:txBody>
          </p:sp>
          <p:sp>
            <p:nvSpPr>
              <p:cNvPr id="57" name="矩形 56"/>
              <p:cNvSpPr/>
              <p:nvPr/>
            </p:nvSpPr>
            <p:spPr>
              <a:xfrm>
                <a:off x="3482" y="8732"/>
                <a:ext cx="2245" cy="855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>
                <a:scene3d>
                  <a:camera prst="orthographicFront"/>
                  <a:lightRig rig="threePt" dir="t"/>
                </a:scene3d>
              </a:bodyPr>
              <a:p>
                <a:pPr algn="ctr" fontAlgn="auto"/>
                <a:r>
                  <a:rPr lang="zh-CN" altLang="en-US" sz="1200" b="1" strike="noStrike" noProof="1">
                    <a:solidFill>
                      <a:schemeClr val="tx1"/>
                    </a:solidFill>
                    <a:effectLst/>
                  </a:rPr>
                  <a:t>商业化试点</a:t>
                </a:r>
                <a:endParaRPr lang="zh-CN" altLang="en-US" sz="1200" b="1" strike="noStrike" noProof="1">
                  <a:solidFill>
                    <a:schemeClr val="tx1"/>
                  </a:solidFill>
                  <a:effectLst/>
                </a:endParaRPr>
              </a:p>
            </p:txBody>
          </p:sp>
          <p:sp>
            <p:nvSpPr>
              <p:cNvPr id="58" name="矩形 57"/>
              <p:cNvSpPr/>
              <p:nvPr/>
            </p:nvSpPr>
            <p:spPr>
              <a:xfrm>
                <a:off x="3481" y="2501"/>
                <a:ext cx="2246" cy="855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>
                <a:scene3d>
                  <a:camera prst="orthographicFront"/>
                  <a:lightRig rig="threePt" dir="t"/>
                </a:scene3d>
              </a:bodyPr>
              <a:p>
                <a:pPr algn="ctr" fontAlgn="auto"/>
                <a:r>
                  <a:rPr lang="zh-CN" altLang="en-US" sz="1200" b="1" strike="noStrike" noProof="1">
                    <a:solidFill>
                      <a:schemeClr val="tx1"/>
                    </a:solidFill>
                    <a:effectLst/>
                  </a:rPr>
                  <a:t>申请主体</a:t>
                </a:r>
                <a:endParaRPr lang="zh-CN" altLang="en-US" sz="1200" b="1" strike="noStrike" noProof="1">
                  <a:solidFill>
                    <a:schemeClr val="tx1"/>
                  </a:solidFill>
                  <a:effectLst/>
                </a:endParaRPr>
              </a:p>
            </p:txBody>
          </p:sp>
          <p:cxnSp>
            <p:nvCxnSpPr>
              <p:cNvPr id="91" name="直接箭头连接符 90"/>
              <p:cNvCxnSpPr>
                <a:stCxn id="58" idx="2"/>
                <a:endCxn id="56" idx="0"/>
              </p:cNvCxnSpPr>
              <p:nvPr/>
            </p:nvCxnSpPr>
            <p:spPr>
              <a:xfrm>
                <a:off x="4604" y="3356"/>
                <a:ext cx="1" cy="702"/>
              </a:xfrm>
              <a:prstGeom prst="straightConnector1">
                <a:avLst/>
              </a:prstGeom>
              <a:ln w="28575" cmpd="sng">
                <a:solidFill>
                  <a:schemeClr val="accent1">
                    <a:shade val="50000"/>
                  </a:schemeClr>
                </a:solidFill>
                <a:prstDash val="soli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直接箭头连接符 91"/>
              <p:cNvCxnSpPr/>
              <p:nvPr/>
            </p:nvCxnSpPr>
            <p:spPr>
              <a:xfrm>
                <a:off x="4605" y="4913"/>
                <a:ext cx="1" cy="702"/>
              </a:xfrm>
              <a:prstGeom prst="straightConnector1">
                <a:avLst/>
              </a:prstGeom>
              <a:ln w="28575" cmpd="sng">
                <a:solidFill>
                  <a:schemeClr val="accent1">
                    <a:shade val="50000"/>
                  </a:schemeClr>
                </a:solidFill>
                <a:prstDash val="soli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直接箭头连接符 92"/>
              <p:cNvCxnSpPr/>
              <p:nvPr/>
            </p:nvCxnSpPr>
            <p:spPr>
              <a:xfrm>
                <a:off x="4606" y="6473"/>
                <a:ext cx="1" cy="702"/>
              </a:xfrm>
              <a:prstGeom prst="straightConnector1">
                <a:avLst/>
              </a:prstGeom>
              <a:ln w="28575" cmpd="sng">
                <a:solidFill>
                  <a:schemeClr val="accent1">
                    <a:shade val="50000"/>
                  </a:schemeClr>
                </a:solidFill>
                <a:prstDash val="soli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直接箭头连接符 93"/>
              <p:cNvCxnSpPr/>
              <p:nvPr/>
            </p:nvCxnSpPr>
            <p:spPr>
              <a:xfrm>
                <a:off x="4603" y="8030"/>
                <a:ext cx="1" cy="702"/>
              </a:xfrm>
              <a:prstGeom prst="straightConnector1">
                <a:avLst/>
              </a:prstGeom>
              <a:ln w="28575" cmpd="sng">
                <a:solidFill>
                  <a:schemeClr val="accent1">
                    <a:shade val="50000"/>
                  </a:schemeClr>
                </a:solidFill>
                <a:prstDash val="soli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3" name="矩形 102"/>
            <p:cNvSpPr/>
            <p:nvPr/>
          </p:nvSpPr>
          <p:spPr>
            <a:xfrm>
              <a:off x="403" y="3206"/>
              <a:ext cx="3991" cy="711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p>
              <a:pPr algn="ctr" fontAlgn="auto"/>
              <a:r>
                <a:rPr lang="zh-CN" altLang="en-US" sz="1000" b="1">
                  <a:solidFill>
                    <a:schemeClr val="tx1"/>
                  </a:solidFill>
                  <a:effectLst/>
                  <a:sym typeface="+mn-ea"/>
                </a:rPr>
                <a:t>申报要求详见《规程》第一条</a:t>
              </a:r>
              <a:endParaRPr lang="zh-CN" altLang="en-US" sz="1000" b="1">
                <a:solidFill>
                  <a:schemeClr val="tx1"/>
                </a:solidFill>
                <a:effectLst/>
                <a:sym typeface="+mn-ea"/>
              </a:endParaRPr>
            </a:p>
            <a:p>
              <a:pPr algn="ctr" fontAlgn="auto"/>
              <a:r>
                <a:rPr lang="zh-CN" altLang="en-US" sz="1000" b="1">
                  <a:solidFill>
                    <a:schemeClr val="tx1"/>
                  </a:solidFill>
                  <a:effectLst/>
                  <a:sym typeface="+mn-ea"/>
                </a:rPr>
                <a:t>申请材料详见《规程》第六条</a:t>
              </a:r>
              <a:endParaRPr lang="zh-CN" altLang="en-US" sz="1000" b="1" strike="noStrike" noProof="1">
                <a:solidFill>
                  <a:schemeClr val="tx1"/>
                </a:solidFill>
                <a:effectLst/>
                <a:sym typeface="+mn-ea"/>
              </a:endParaRPr>
            </a:p>
          </p:txBody>
        </p:sp>
        <p:cxnSp>
          <p:nvCxnSpPr>
            <p:cNvPr id="104" name="直接连接符 103"/>
            <p:cNvCxnSpPr/>
            <p:nvPr/>
          </p:nvCxnSpPr>
          <p:spPr>
            <a:xfrm>
              <a:off x="4390" y="3553"/>
              <a:ext cx="1907" cy="3"/>
            </a:xfrm>
            <a:prstGeom prst="line">
              <a:avLst/>
            </a:prstGeom>
            <a:ln w="28575" cmpd="sng">
              <a:solidFill>
                <a:schemeClr val="accent1">
                  <a:shade val="50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5" name="矩形 104"/>
            <p:cNvSpPr/>
            <p:nvPr/>
          </p:nvSpPr>
          <p:spPr>
            <a:xfrm>
              <a:off x="403" y="4752"/>
              <a:ext cx="3991" cy="711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</a:bodyPr>
            <a:p>
              <a:pPr algn="ctr" fontAlgn="auto"/>
              <a:r>
                <a:rPr lang="zh-CN" altLang="en-US" sz="1000" b="1">
                  <a:sym typeface="+mn-ea"/>
                </a:rPr>
                <a:t>进阶要求详见《规程》第二条</a:t>
              </a:r>
              <a:endParaRPr lang="zh-CN" altLang="en-US" sz="1000" b="1">
                <a:sym typeface="+mn-ea"/>
              </a:endParaRPr>
            </a:p>
            <a:p>
              <a:pPr algn="ctr" fontAlgn="auto"/>
              <a:r>
                <a:rPr lang="zh-CN" altLang="en-US" sz="1000" b="1">
                  <a:sym typeface="+mn-ea"/>
                </a:rPr>
                <a:t>申请材料详见《规程》第七条</a:t>
              </a:r>
              <a:endParaRPr lang="zh-CN" altLang="en-US" sz="1000" b="1" strike="noStrike" noProof="1">
                <a:solidFill>
                  <a:schemeClr val="tx1"/>
                </a:solidFill>
                <a:effectLst/>
                <a:sym typeface="+mn-ea"/>
              </a:endParaRPr>
            </a:p>
          </p:txBody>
        </p:sp>
        <p:cxnSp>
          <p:nvCxnSpPr>
            <p:cNvPr id="106" name="直接连接符 105"/>
            <p:cNvCxnSpPr/>
            <p:nvPr/>
          </p:nvCxnSpPr>
          <p:spPr>
            <a:xfrm>
              <a:off x="4390" y="5099"/>
              <a:ext cx="1907" cy="3"/>
            </a:xfrm>
            <a:prstGeom prst="line">
              <a:avLst/>
            </a:prstGeom>
            <a:ln w="28575" cmpd="sng">
              <a:solidFill>
                <a:schemeClr val="accent1">
                  <a:shade val="50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7" name="矩形 106"/>
            <p:cNvSpPr/>
            <p:nvPr/>
          </p:nvSpPr>
          <p:spPr>
            <a:xfrm>
              <a:off x="402" y="6321"/>
              <a:ext cx="3988" cy="711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</a:bodyPr>
            <a:p>
              <a:pPr algn="ctr" fontAlgn="auto"/>
              <a:r>
                <a:rPr lang="zh-CN" altLang="en-US" sz="1000" b="1">
                  <a:sym typeface="+mn-ea"/>
                </a:rPr>
                <a:t>进阶要求详见《规程》第十八条</a:t>
              </a:r>
              <a:endParaRPr lang="zh-CN" altLang="en-US" sz="1000" b="1">
                <a:sym typeface="+mn-ea"/>
              </a:endParaRPr>
            </a:p>
            <a:p>
              <a:pPr algn="ctr" fontAlgn="auto"/>
              <a:r>
                <a:rPr lang="zh-CN" altLang="en-US" sz="1000" b="1">
                  <a:sym typeface="+mn-ea"/>
                </a:rPr>
                <a:t>申请材料详见《规程》第二十条</a:t>
              </a:r>
              <a:endParaRPr lang="zh-CN" altLang="en-US" sz="1000" b="1" strike="noStrike" noProof="1">
                <a:solidFill>
                  <a:schemeClr val="tx1"/>
                </a:solidFill>
                <a:effectLst/>
                <a:sym typeface="+mn-ea"/>
              </a:endParaRPr>
            </a:p>
          </p:txBody>
        </p:sp>
        <p:cxnSp>
          <p:nvCxnSpPr>
            <p:cNvPr id="108" name="直接连接符 107"/>
            <p:cNvCxnSpPr/>
            <p:nvPr/>
          </p:nvCxnSpPr>
          <p:spPr>
            <a:xfrm>
              <a:off x="4386" y="6668"/>
              <a:ext cx="1907" cy="3"/>
            </a:xfrm>
            <a:prstGeom prst="line">
              <a:avLst/>
            </a:prstGeom>
            <a:ln w="28575" cmpd="sng">
              <a:solidFill>
                <a:schemeClr val="accent1">
                  <a:shade val="50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9" name="矩形 108"/>
            <p:cNvSpPr/>
            <p:nvPr/>
          </p:nvSpPr>
          <p:spPr>
            <a:xfrm>
              <a:off x="402" y="7822"/>
              <a:ext cx="3984" cy="741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</a:bodyPr>
            <a:p>
              <a:pPr algn="ctr" fontAlgn="auto"/>
              <a:r>
                <a:rPr lang="zh-CN" altLang="en-US" sz="1000" b="1">
                  <a:sym typeface="+mn-ea"/>
                </a:rPr>
                <a:t>进阶要求详见《规程》第三十至三十一条</a:t>
              </a:r>
              <a:endParaRPr lang="zh-CN" altLang="en-US" sz="1000" b="1">
                <a:sym typeface="+mn-ea"/>
              </a:endParaRPr>
            </a:p>
            <a:p>
              <a:pPr algn="ctr" fontAlgn="auto"/>
              <a:r>
                <a:rPr lang="zh-CN" altLang="en-US" sz="1000" b="1">
                  <a:sym typeface="+mn-ea"/>
                </a:rPr>
                <a:t>申请材料详见《规程》第三十四条</a:t>
              </a:r>
              <a:endParaRPr lang="zh-CN" altLang="en-US" sz="1000" b="1" strike="noStrike" noProof="1">
                <a:solidFill>
                  <a:schemeClr val="tx1"/>
                </a:solidFill>
                <a:effectLst/>
                <a:sym typeface="+mn-ea"/>
              </a:endParaRPr>
            </a:p>
          </p:txBody>
        </p:sp>
        <p:cxnSp>
          <p:nvCxnSpPr>
            <p:cNvPr id="110" name="直接连接符 109"/>
            <p:cNvCxnSpPr/>
            <p:nvPr/>
          </p:nvCxnSpPr>
          <p:spPr>
            <a:xfrm>
              <a:off x="4390" y="8225"/>
              <a:ext cx="1907" cy="3"/>
            </a:xfrm>
            <a:prstGeom prst="line">
              <a:avLst/>
            </a:prstGeom>
            <a:ln w="28575" cmpd="sng">
              <a:solidFill>
                <a:schemeClr val="accent1">
                  <a:shade val="50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1" name="肘形连接符 110"/>
          <p:cNvCxnSpPr>
            <a:stCxn id="56" idx="3"/>
            <a:endCxn id="69" idx="1"/>
          </p:cNvCxnSpPr>
          <p:nvPr/>
        </p:nvCxnSpPr>
        <p:spPr>
          <a:xfrm flipV="true">
            <a:off x="5240655" y="1675130"/>
            <a:ext cx="2456815" cy="1012190"/>
          </a:xfrm>
          <a:prstGeom prst="bentConnector3">
            <a:avLst>
              <a:gd name="adj1" fmla="val 50013"/>
            </a:avLst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肘形连接符 111"/>
          <p:cNvCxnSpPr>
            <a:stCxn id="55" idx="3"/>
            <a:endCxn id="69" idx="1"/>
          </p:cNvCxnSpPr>
          <p:nvPr/>
        </p:nvCxnSpPr>
        <p:spPr>
          <a:xfrm flipV="true">
            <a:off x="5240020" y="1675130"/>
            <a:ext cx="2457450" cy="2002790"/>
          </a:xfrm>
          <a:prstGeom prst="bentConnector3">
            <a:avLst>
              <a:gd name="adj1" fmla="val 50000"/>
            </a:avLst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肘形连接符 112"/>
          <p:cNvCxnSpPr>
            <a:stCxn id="16" idx="3"/>
            <a:endCxn id="69" idx="1"/>
          </p:cNvCxnSpPr>
          <p:nvPr/>
        </p:nvCxnSpPr>
        <p:spPr>
          <a:xfrm flipV="true">
            <a:off x="5241925" y="1675130"/>
            <a:ext cx="2455545" cy="2991485"/>
          </a:xfrm>
          <a:prstGeom prst="bentConnector3">
            <a:avLst>
              <a:gd name="adj1" fmla="val 50013"/>
            </a:avLst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肘形连接符 113"/>
          <p:cNvCxnSpPr>
            <a:stCxn id="57" idx="3"/>
            <a:endCxn id="69" idx="1"/>
          </p:cNvCxnSpPr>
          <p:nvPr/>
        </p:nvCxnSpPr>
        <p:spPr>
          <a:xfrm flipV="true">
            <a:off x="5240655" y="1675130"/>
            <a:ext cx="2456815" cy="3980180"/>
          </a:xfrm>
          <a:prstGeom prst="bentConnector3">
            <a:avLst>
              <a:gd name="adj1" fmla="val 50013"/>
            </a:avLst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true"/>
          <p:nvPr/>
        </p:nvSpPr>
        <p:spPr>
          <a:xfrm>
            <a:off x="11250930" y="6413500"/>
            <a:ext cx="77597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latin typeface="+mn-ea"/>
              </a:rPr>
              <a:t>- 36 -</a:t>
            </a:r>
            <a:endParaRPr lang="en-US" altLang="zh-CN" sz="1200">
              <a:latin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1" name="文本框 24"/>
          <p:cNvSpPr txBox="true"/>
          <p:nvPr/>
        </p:nvSpPr>
        <p:spPr>
          <a:xfrm>
            <a:off x="3814128" y="141288"/>
            <a:ext cx="4564062" cy="70675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false">
            <a:spAutoFit/>
          </a:bodyPr>
          <a:p>
            <a:pPr algn="ctr"/>
            <a:r>
              <a:rPr lang="zh-CN" altLang="en-US" sz="2000">
                <a:latin typeface="方正小标宋简体" panose="02000000000000000000" charset="-122"/>
                <a:ea typeface="方正小标宋简体" panose="02000000000000000000" charset="-122"/>
              </a:rPr>
              <a:t>末端无人配送应用场景道路测试与</a:t>
            </a:r>
            <a:endParaRPr lang="zh-CN" altLang="en-US" sz="2000">
              <a:latin typeface="方正小标宋简体" panose="02000000000000000000" charset="-122"/>
              <a:ea typeface="方正小标宋简体" panose="02000000000000000000" charset="-122"/>
            </a:endParaRPr>
          </a:p>
          <a:p>
            <a:pPr algn="ctr"/>
            <a:r>
              <a:rPr lang="zh-CN" altLang="en-US" sz="2000">
                <a:latin typeface="方正小标宋简体" panose="02000000000000000000" charset="-122"/>
                <a:ea typeface="方正小标宋简体" panose="02000000000000000000" charset="-122"/>
              </a:rPr>
              <a:t>示范应用进阶流程图（全程无人）</a:t>
            </a:r>
            <a:endParaRPr lang="zh-CN" altLang="en-US" sz="2000">
              <a:latin typeface="方正小标宋简体" panose="02000000000000000000" charset="-122"/>
              <a:ea typeface="方正小标宋简体" panose="02000000000000000000" charset="-122"/>
            </a:endParaRPr>
          </a:p>
        </p:txBody>
      </p:sp>
      <p:sp>
        <p:nvSpPr>
          <p:cNvPr id="4" name="文本框 3"/>
          <p:cNvSpPr txBox="true"/>
          <p:nvPr/>
        </p:nvSpPr>
        <p:spPr>
          <a:xfrm>
            <a:off x="95885" y="119380"/>
            <a:ext cx="109601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latin typeface="国标黑体" panose="02000500000000000000" charset="-122"/>
                <a:ea typeface="国标黑体" panose="02000500000000000000" charset="-122"/>
                <a:cs typeface="国标黑体" panose="02000500000000000000" charset="-122"/>
              </a:rPr>
              <a:t>附件</a:t>
            </a:r>
            <a:r>
              <a:rPr lang="en-US" altLang="zh-CN" sz="1600">
                <a:latin typeface="国标黑体" panose="02000500000000000000" charset="-122"/>
                <a:ea typeface="国标黑体" panose="02000500000000000000" charset="-122"/>
                <a:cs typeface="国标黑体" panose="02000500000000000000" charset="-122"/>
              </a:rPr>
              <a:t>12-2</a:t>
            </a:r>
            <a:endParaRPr lang="en-US" altLang="zh-CN" sz="1600">
              <a:latin typeface="国标黑体" panose="02000500000000000000" charset="-122"/>
              <a:ea typeface="国标黑体" panose="02000500000000000000" charset="-122"/>
              <a:cs typeface="国标黑体" panose="02000500000000000000" charset="-122"/>
            </a:endParaRPr>
          </a:p>
        </p:txBody>
      </p:sp>
      <p:sp>
        <p:nvSpPr>
          <p:cNvPr id="5175" name="文本框 3"/>
          <p:cNvSpPr txBox="true"/>
          <p:nvPr/>
        </p:nvSpPr>
        <p:spPr>
          <a:xfrm>
            <a:off x="2379980" y="848360"/>
            <a:ext cx="1086485" cy="337185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 anchorCtr="false">
            <a:spAutoFit/>
          </a:bodyPr>
          <a:p>
            <a:pPr algn="ctr"/>
            <a:r>
              <a:rPr lang="zh-CN" altLang="en-US" sz="1600">
                <a:latin typeface="CESI楷体-GB2312" panose="02000500000000000000" charset="-122"/>
                <a:ea typeface="CESI楷体-GB2312" panose="02000500000000000000" charset="-122"/>
              </a:rPr>
              <a:t>申报流程</a:t>
            </a:r>
            <a:endParaRPr lang="zh-CN" altLang="en-US" sz="1600">
              <a:latin typeface="CESI楷体-GB2312" panose="02000500000000000000" charset="-122"/>
              <a:ea typeface="CESI楷体-GB2312" panose="02000500000000000000" charset="-122"/>
            </a:endParaRPr>
          </a:p>
        </p:txBody>
      </p:sp>
      <p:cxnSp>
        <p:nvCxnSpPr>
          <p:cNvPr id="10" name="直接连接符 9"/>
          <p:cNvCxnSpPr/>
          <p:nvPr/>
        </p:nvCxnSpPr>
        <p:spPr>
          <a:xfrm flipH="true">
            <a:off x="6092190" y="848360"/>
            <a:ext cx="8255" cy="5755005"/>
          </a:xfrm>
          <a:prstGeom prst="line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3"/>
          <p:cNvSpPr txBox="true"/>
          <p:nvPr/>
        </p:nvSpPr>
        <p:spPr>
          <a:xfrm>
            <a:off x="8728710" y="848360"/>
            <a:ext cx="1086485" cy="337185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 anchorCtr="false">
            <a:spAutoFit/>
          </a:bodyPr>
          <a:p>
            <a:pPr algn="ctr"/>
            <a:r>
              <a:rPr lang="zh-CN" altLang="en-US" sz="1600">
                <a:latin typeface="CESI楷体-GB2312" panose="02000500000000000000" charset="-122"/>
                <a:ea typeface="CESI楷体-GB2312" panose="02000500000000000000" charset="-122"/>
              </a:rPr>
              <a:t>审批流程</a:t>
            </a:r>
            <a:endParaRPr lang="zh-CN" altLang="en-US" sz="1600">
              <a:latin typeface="CESI楷体-GB2312" panose="02000500000000000000" charset="-122"/>
              <a:ea typeface="CESI楷体-GB2312" panose="02000500000000000000" charset="-122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7549515" y="1426845"/>
            <a:ext cx="3445510" cy="4823460"/>
            <a:chOff x="14263" y="1204"/>
            <a:chExt cx="4603" cy="8311"/>
          </a:xfrm>
        </p:grpSpPr>
        <p:sp>
          <p:nvSpPr>
            <p:cNvPr id="34" name="文本框 33"/>
            <p:cNvSpPr txBox="true"/>
            <p:nvPr/>
          </p:nvSpPr>
          <p:spPr>
            <a:xfrm>
              <a:off x="14473" y="3642"/>
              <a:ext cx="3007" cy="68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algn="ctr" fontAlgn="auto"/>
              <a:r>
                <a:rPr lang="zh-CN" altLang="en-US" sz="1000" b="1" noProof="1"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" panose="02080604020202020204" pitchFamily="34" charset="0"/>
                  <a:ea typeface="宋体" pitchFamily="2" charset="-122"/>
                  <a:cs typeface="+mn-cs"/>
                  <a:sym typeface="+mn-ea"/>
                </a:rPr>
                <a:t>第三方专业管理机构</a:t>
              </a:r>
              <a:endParaRPr lang="zh-CN" altLang="en-US" sz="1000" b="1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 algn="ctr" fontAlgn="auto"/>
              <a:r>
                <a:rPr lang="zh-CN" altLang="en-US" sz="1000" b="1" noProof="1"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" panose="02080604020202020204" pitchFamily="34" charset="0"/>
                  <a:ea typeface="宋体" pitchFamily="2" charset="-122"/>
                  <a:cs typeface="+mn-cs"/>
                  <a:sym typeface="+mn-ea"/>
                </a:rPr>
                <a:t>组织召开专家评审会论证</a:t>
              </a:r>
              <a:endParaRPr lang="zh-CN" altLang="en-US" sz="1000" b="1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endParaRPr>
            </a:p>
          </p:txBody>
        </p:sp>
        <p:grpSp>
          <p:nvGrpSpPr>
            <p:cNvPr id="43" name="组合 56"/>
            <p:cNvGrpSpPr/>
            <p:nvPr/>
          </p:nvGrpSpPr>
          <p:grpSpPr>
            <a:xfrm rot="0">
              <a:off x="14263" y="1204"/>
              <a:ext cx="3587" cy="8311"/>
              <a:chOff x="14415" y="850"/>
              <a:chExt cx="3586" cy="8310"/>
            </a:xfrm>
          </p:grpSpPr>
          <p:sp>
            <p:nvSpPr>
              <p:cNvPr id="51" name="矩形 50"/>
              <p:cNvSpPr/>
              <p:nvPr/>
            </p:nvSpPr>
            <p:spPr>
              <a:xfrm>
                <a:off x="14616" y="4374"/>
                <a:ext cx="3095" cy="855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>
                <a:scene3d>
                  <a:camera prst="orthographicFront"/>
                  <a:lightRig rig="threePt" dir="t"/>
                </a:scene3d>
              </a:bodyPr>
              <a:p>
                <a:pPr algn="ctr" fontAlgn="auto"/>
                <a:r>
                  <a:rPr lang="zh-CN" altLang="en-US" sz="1000" b="1" strike="noStrike" noProof="1"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论证意见提交专班办公室</a:t>
                </a:r>
                <a:endParaRPr lang="zh-CN" altLang="en-US" sz="1000" b="1" strike="noStrike" noProof="1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</p:txBody>
          </p:sp>
          <p:sp>
            <p:nvSpPr>
              <p:cNvPr id="59" name="矩形 58"/>
              <p:cNvSpPr/>
              <p:nvPr/>
            </p:nvSpPr>
            <p:spPr>
              <a:xfrm>
                <a:off x="14613" y="6712"/>
                <a:ext cx="3098" cy="1285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>
                <a:scene3d>
                  <a:camera prst="orthographicFront"/>
                  <a:lightRig rig="threePt" dir="t"/>
                </a:scene3d>
              </a:bodyPr>
              <a:p>
                <a:pPr algn="ctr" fontAlgn="auto"/>
                <a:r>
                  <a:rPr lang="zh-CN" altLang="en-US" sz="1000" b="1" strike="noStrike" noProof="1"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到公安机关申领号牌</a:t>
                </a:r>
                <a:endParaRPr lang="zh-CN" altLang="en-US" sz="1000" b="1" strike="noStrike" noProof="1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  <a:p>
                <a:pPr algn="ctr" fontAlgn="auto"/>
                <a:r>
                  <a:rPr lang="zh-CN" altLang="en-US" sz="1000" b="1" strike="noStrike" noProof="1"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（其中，商业化试点阶段号牌有效期为</a:t>
                </a:r>
                <a:r>
                  <a:rPr lang="en-US" altLang="zh-CN" sz="1000" b="1" strike="noStrike" noProof="1"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6</a:t>
                </a:r>
                <a:r>
                  <a:rPr lang="zh-CN" altLang="en-US" sz="1000" b="1" strike="noStrike" noProof="1"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个月，其他阶段号牌有效期为</a:t>
                </a:r>
                <a:r>
                  <a:rPr lang="en-US" altLang="zh-CN" sz="1000" b="1" strike="noStrike" noProof="1"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12</a:t>
                </a:r>
                <a:r>
                  <a:rPr lang="zh-CN" altLang="en-US" sz="1000" b="1" strike="noStrike" noProof="1"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个月）</a:t>
                </a:r>
                <a:endParaRPr lang="zh-CN" altLang="en-US" sz="1000" b="1" strike="noStrike" noProof="1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</p:txBody>
          </p:sp>
          <p:sp>
            <p:nvSpPr>
              <p:cNvPr id="60" name="矩形 59"/>
              <p:cNvSpPr/>
              <p:nvPr/>
            </p:nvSpPr>
            <p:spPr>
              <a:xfrm>
                <a:off x="14582" y="8305"/>
                <a:ext cx="3095" cy="855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>
                <a:scene3d>
                  <a:camera prst="orthographicFront"/>
                  <a:lightRig rig="threePt" dir="t"/>
                </a:scene3d>
              </a:bodyPr>
              <a:p>
                <a:pPr algn="ctr" fontAlgn="auto"/>
                <a:r>
                  <a:rPr lang="zh-CN" altLang="en-US" sz="1000" b="1" strike="noStrike" noProof="1"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安装监控装置并接受第三方</a:t>
                </a:r>
                <a:endParaRPr lang="zh-CN" altLang="en-US" sz="1000" b="1" strike="noStrike" noProof="1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  <a:p>
                <a:pPr algn="ctr" fontAlgn="auto"/>
                <a:r>
                  <a:rPr lang="zh-CN" altLang="en-US" sz="1000" b="1" strike="noStrike" noProof="1"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专业管理机构日常监管</a:t>
                </a:r>
                <a:endParaRPr lang="zh-CN" altLang="en-US" sz="1000" b="1" strike="noStrike" noProof="1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</p:txBody>
          </p:sp>
          <p:grpSp>
            <p:nvGrpSpPr>
              <p:cNvPr id="61" name="组合 55"/>
              <p:cNvGrpSpPr/>
              <p:nvPr/>
            </p:nvGrpSpPr>
            <p:grpSpPr>
              <a:xfrm>
                <a:off x="16143" y="1706"/>
                <a:ext cx="40" cy="6599"/>
                <a:chOff x="16143" y="1706"/>
                <a:chExt cx="40" cy="6599"/>
              </a:xfrm>
            </p:grpSpPr>
            <p:cxnSp>
              <p:nvCxnSpPr>
                <p:cNvPr id="62" name="直接箭头连接符 61"/>
                <p:cNvCxnSpPr>
                  <a:endCxn id="83" idx="0"/>
                </p:cNvCxnSpPr>
                <p:nvPr/>
              </p:nvCxnSpPr>
              <p:spPr>
                <a:xfrm>
                  <a:off x="16148" y="1706"/>
                  <a:ext cx="10" cy="308"/>
                </a:xfrm>
                <a:prstGeom prst="straightConnector1">
                  <a:avLst/>
                </a:prstGeom>
                <a:ln w="28575" cmpd="sng">
                  <a:solidFill>
                    <a:schemeClr val="accent1">
                      <a:shade val="50000"/>
                    </a:schemeClr>
                  </a:solidFill>
                  <a:prstDash val="solid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" name="直接箭头连接符 62"/>
                <p:cNvCxnSpPr>
                  <a:endCxn id="83" idx="0"/>
                </p:cNvCxnSpPr>
                <p:nvPr/>
              </p:nvCxnSpPr>
              <p:spPr>
                <a:xfrm>
                  <a:off x="16143" y="2866"/>
                  <a:ext cx="10" cy="308"/>
                </a:xfrm>
                <a:prstGeom prst="straightConnector1">
                  <a:avLst/>
                </a:prstGeom>
                <a:ln w="28575" cmpd="sng">
                  <a:solidFill>
                    <a:schemeClr val="accent1">
                      <a:shade val="50000"/>
                    </a:schemeClr>
                  </a:solidFill>
                  <a:prstDash val="solid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4" name="直接箭头连接符 63"/>
                <p:cNvCxnSpPr>
                  <a:endCxn id="83" idx="0"/>
                </p:cNvCxnSpPr>
                <p:nvPr/>
              </p:nvCxnSpPr>
              <p:spPr>
                <a:xfrm>
                  <a:off x="16153" y="4068"/>
                  <a:ext cx="10" cy="310"/>
                </a:xfrm>
                <a:prstGeom prst="straightConnector1">
                  <a:avLst/>
                </a:prstGeom>
                <a:ln w="28575" cmpd="sng">
                  <a:solidFill>
                    <a:schemeClr val="accent1">
                      <a:shade val="50000"/>
                    </a:schemeClr>
                  </a:solidFill>
                  <a:prstDash val="solid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" name="直接箭头连接符 65"/>
                <p:cNvCxnSpPr>
                  <a:endCxn id="83" idx="0"/>
                </p:cNvCxnSpPr>
                <p:nvPr/>
              </p:nvCxnSpPr>
              <p:spPr>
                <a:xfrm>
                  <a:off x="16163" y="5258"/>
                  <a:ext cx="10" cy="310"/>
                </a:xfrm>
                <a:prstGeom prst="straightConnector1">
                  <a:avLst/>
                </a:prstGeom>
                <a:ln w="28575" cmpd="sng">
                  <a:solidFill>
                    <a:schemeClr val="accent1">
                      <a:shade val="50000"/>
                    </a:schemeClr>
                  </a:solidFill>
                  <a:prstDash val="solid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7" name="直接箭头连接符 66"/>
                <p:cNvCxnSpPr>
                  <a:endCxn id="83" idx="0"/>
                </p:cNvCxnSpPr>
                <p:nvPr/>
              </p:nvCxnSpPr>
              <p:spPr>
                <a:xfrm>
                  <a:off x="16173" y="6393"/>
                  <a:ext cx="10" cy="310"/>
                </a:xfrm>
                <a:prstGeom prst="straightConnector1">
                  <a:avLst/>
                </a:prstGeom>
                <a:ln w="28575" cmpd="sng">
                  <a:solidFill>
                    <a:schemeClr val="accent1">
                      <a:shade val="50000"/>
                    </a:schemeClr>
                  </a:solidFill>
                  <a:prstDash val="solid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8" name="直接箭头连接符 67"/>
                <p:cNvCxnSpPr>
                  <a:endCxn id="83" idx="0"/>
                </p:cNvCxnSpPr>
                <p:nvPr/>
              </p:nvCxnSpPr>
              <p:spPr>
                <a:xfrm>
                  <a:off x="16148" y="7997"/>
                  <a:ext cx="10" cy="308"/>
                </a:xfrm>
                <a:prstGeom prst="straightConnector1">
                  <a:avLst/>
                </a:prstGeom>
                <a:ln w="28575" cmpd="sng">
                  <a:solidFill>
                    <a:schemeClr val="accent1">
                      <a:shade val="50000"/>
                    </a:schemeClr>
                  </a:solidFill>
                  <a:prstDash val="solid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9" name="矩形 68"/>
              <p:cNvSpPr/>
              <p:nvPr/>
            </p:nvSpPr>
            <p:spPr>
              <a:xfrm>
                <a:off x="14613" y="850"/>
                <a:ext cx="3096" cy="855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>
                <a:scene3d>
                  <a:camera prst="orthographicFront"/>
                  <a:lightRig rig="threePt" dir="t"/>
                </a:scene3d>
              </a:bodyPr>
              <a:p>
                <a:pPr algn="ctr" fontAlgn="auto"/>
                <a:r>
                  <a:rPr lang="zh-CN" altLang="en-US" sz="1000" b="1" strike="noStrike" noProof="1"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第三方专业管理机构</a:t>
                </a:r>
                <a:endParaRPr lang="zh-CN" altLang="en-US" sz="1000" b="1" strike="noStrike" noProof="1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  <a:p>
                <a:pPr algn="ctr" fontAlgn="auto"/>
                <a:r>
                  <a:rPr lang="zh-CN" altLang="en-US" sz="1000" b="1" strike="noStrike" noProof="1"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初</a:t>
                </a:r>
                <a:r>
                  <a:rPr lang="en-US" altLang="zh-CN" sz="1000" b="1" strike="noStrike" noProof="1"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  </a:t>
                </a:r>
                <a:r>
                  <a:rPr lang="zh-CN" altLang="en-US" sz="1000" b="1" strike="noStrike" noProof="1"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审</a:t>
                </a:r>
                <a:endParaRPr lang="zh-CN" altLang="en-US" sz="1000" b="1" strike="noStrike" noProof="1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</p:txBody>
          </p:sp>
          <p:grpSp>
            <p:nvGrpSpPr>
              <p:cNvPr id="70" name="组合 42"/>
              <p:cNvGrpSpPr/>
              <p:nvPr/>
            </p:nvGrpSpPr>
            <p:grpSpPr>
              <a:xfrm>
                <a:off x="14415" y="1986"/>
                <a:ext cx="3586" cy="881"/>
                <a:chOff x="8894" y="9156"/>
                <a:chExt cx="3283" cy="970"/>
              </a:xfrm>
            </p:grpSpPr>
            <p:sp>
              <p:nvSpPr>
                <p:cNvPr id="71" name="文本框 70"/>
                <p:cNvSpPr txBox="true"/>
                <p:nvPr/>
              </p:nvSpPr>
              <p:spPr>
                <a:xfrm>
                  <a:off x="8894" y="9327"/>
                  <a:ext cx="3283" cy="756"/>
                </a:xfrm>
                <a:prstGeom prst="rect">
                  <a:avLst/>
                </a:prstGeom>
                <a:noFill/>
              </p:spPr>
              <p:txBody>
                <a:bodyPr wrap="square" rtlCol="0" anchor="t">
                  <a:spAutoFit/>
                </a:bodyPr>
                <a:p>
                  <a:pPr algn="ctr" fontAlgn="auto"/>
                  <a:r>
                    <a:rPr lang="zh-CN" altLang="en-US" sz="1000" b="1" noProof="1">
                      <a:effectLst>
                        <a:outerShdw blurRad="38100" dist="19050" dir="2700000" algn="tl" rotWithShape="0">
                          <a:schemeClr val="dk1">
                            <a:alpha val="40000"/>
                          </a:schemeClr>
                        </a:outerShdw>
                      </a:effectLst>
                      <a:latin typeface="Arial" panose="02080604020202020204" pitchFamily="34" charset="0"/>
                      <a:ea typeface="宋体" pitchFamily="2" charset="-122"/>
                      <a:cs typeface="+mn-cs"/>
                      <a:sym typeface="+mn-ea"/>
                    </a:rPr>
                    <a:t>初审意见五个工作日内</a:t>
                  </a:r>
                  <a:endParaRPr lang="zh-CN" altLang="en-US" sz="1000" b="1" noProof="1"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endParaRPr>
                </a:p>
                <a:p>
                  <a:pPr algn="ctr" fontAlgn="auto"/>
                  <a:r>
                    <a:rPr lang="zh-CN" altLang="en-US" sz="1000" b="1" noProof="1">
                      <a:effectLst>
                        <a:outerShdw blurRad="38100" dist="19050" dir="2700000" algn="tl" rotWithShape="0">
                          <a:schemeClr val="dk1">
                            <a:alpha val="40000"/>
                          </a:schemeClr>
                        </a:outerShdw>
                      </a:effectLst>
                      <a:latin typeface="Arial" panose="02080604020202020204" pitchFamily="34" charset="0"/>
                      <a:ea typeface="宋体" pitchFamily="2" charset="-122"/>
                      <a:cs typeface="+mn-cs"/>
                      <a:sym typeface="+mn-ea"/>
                    </a:rPr>
                    <a:t>报专班办公室</a:t>
                  </a:r>
                  <a:endParaRPr lang="zh-CN" altLang="en-US" sz="1000" b="1" noProof="1"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sym typeface="+mn-ea"/>
                  </a:endParaRPr>
                </a:p>
              </p:txBody>
            </p:sp>
            <p:sp>
              <p:nvSpPr>
                <p:cNvPr id="72" name="菱形 71"/>
                <p:cNvSpPr/>
                <p:nvPr/>
              </p:nvSpPr>
              <p:spPr>
                <a:xfrm>
                  <a:off x="9094" y="9156"/>
                  <a:ext cx="2800" cy="970"/>
                </a:xfrm>
                <a:prstGeom prst="diamond">
                  <a:avLst/>
                </a:prstGeom>
                <a:noFill/>
                <a:ln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 fontAlgn="base"/>
                  <a:endParaRPr lang="zh-CN" altLang="en-US" strike="noStrike" noProof="1"/>
                </a:p>
              </p:txBody>
            </p:sp>
          </p:grpSp>
          <p:sp>
            <p:nvSpPr>
              <p:cNvPr id="73" name="菱形 72"/>
              <p:cNvSpPr/>
              <p:nvPr/>
            </p:nvSpPr>
            <p:spPr>
              <a:xfrm>
                <a:off x="14619" y="3160"/>
                <a:ext cx="3058" cy="881"/>
              </a:xfrm>
              <a:prstGeom prst="diamond">
                <a:avLst/>
              </a:prstGeom>
              <a:noFill/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 fontAlgn="base"/>
                <a:endParaRPr lang="zh-CN" altLang="en-US" strike="noStrike" noProof="1"/>
              </a:p>
            </p:txBody>
          </p:sp>
          <p:grpSp>
            <p:nvGrpSpPr>
              <p:cNvPr id="77" name="组合 49"/>
              <p:cNvGrpSpPr/>
              <p:nvPr/>
            </p:nvGrpSpPr>
            <p:grpSpPr>
              <a:xfrm>
                <a:off x="14635" y="5535"/>
                <a:ext cx="3058" cy="881"/>
                <a:chOff x="9600" y="9022"/>
                <a:chExt cx="3058" cy="881"/>
              </a:xfrm>
            </p:grpSpPr>
            <p:sp>
              <p:nvSpPr>
                <p:cNvPr id="79" name="文本框 78"/>
                <p:cNvSpPr txBox="true"/>
                <p:nvPr/>
              </p:nvSpPr>
              <p:spPr>
                <a:xfrm>
                  <a:off x="9878" y="9149"/>
                  <a:ext cx="2499" cy="687"/>
                </a:xfrm>
                <a:prstGeom prst="rect">
                  <a:avLst/>
                </a:prstGeom>
                <a:noFill/>
              </p:spPr>
              <p:txBody>
                <a:bodyPr wrap="square" rtlCol="0" anchor="t">
                  <a:spAutoFit/>
                </a:bodyPr>
                <a:p>
                  <a:pPr algn="ctr" fontAlgn="auto"/>
                  <a:r>
                    <a:rPr lang="zh-CN" altLang="en-US" sz="1000" b="1" noProof="1">
                      <a:effectLst>
                        <a:outerShdw blurRad="38100" dist="19050" dir="2700000" algn="tl" rotWithShape="0">
                          <a:schemeClr val="dk1">
                            <a:alpha val="40000"/>
                          </a:schemeClr>
                        </a:outerShdw>
                      </a:effectLst>
                      <a:latin typeface="Arial" panose="02080604020202020204" pitchFamily="34" charset="0"/>
                      <a:ea typeface="宋体" pitchFamily="2" charset="-122"/>
                      <a:cs typeface="+mn-cs"/>
                      <a:sym typeface="+mn-ea"/>
                    </a:rPr>
                    <a:t>专班办公室提请专班领导</a:t>
                  </a:r>
                  <a:endParaRPr lang="zh-CN" altLang="en-US" sz="1000" b="1" noProof="1"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sym typeface="+mn-ea"/>
                  </a:endParaRPr>
                </a:p>
                <a:p>
                  <a:pPr algn="ctr" fontAlgn="auto"/>
                  <a:r>
                    <a:rPr lang="zh-CN" altLang="en-US" sz="1000" b="1" noProof="1">
                      <a:effectLst>
                        <a:outerShdw blurRad="38100" dist="19050" dir="2700000" algn="tl" rotWithShape="0">
                          <a:schemeClr val="dk1">
                            <a:alpha val="40000"/>
                          </a:schemeClr>
                        </a:outerShdw>
                      </a:effectLst>
                      <a:latin typeface="Arial" panose="02080604020202020204" pitchFamily="34" charset="0"/>
                      <a:ea typeface="宋体" pitchFamily="2" charset="-122"/>
                      <a:cs typeface="+mn-cs"/>
                      <a:sym typeface="+mn-ea"/>
                    </a:rPr>
                    <a:t>召开专题会审议</a:t>
                  </a:r>
                  <a:endParaRPr lang="zh-CN" altLang="en-US" sz="1000" b="1" noProof="1"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sym typeface="+mn-ea"/>
                  </a:endParaRPr>
                </a:p>
              </p:txBody>
            </p:sp>
            <p:sp>
              <p:nvSpPr>
                <p:cNvPr id="80" name="菱形 79"/>
                <p:cNvSpPr/>
                <p:nvPr/>
              </p:nvSpPr>
              <p:spPr>
                <a:xfrm>
                  <a:off x="9600" y="9022"/>
                  <a:ext cx="3058" cy="881"/>
                </a:xfrm>
                <a:prstGeom prst="diamond">
                  <a:avLst/>
                </a:prstGeom>
                <a:noFill/>
                <a:ln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 fontAlgn="base"/>
                  <a:endParaRPr lang="zh-CN" altLang="en-US" strike="noStrike" noProof="1"/>
                </a:p>
              </p:txBody>
            </p:sp>
          </p:grpSp>
        </p:grpSp>
        <p:cxnSp>
          <p:nvCxnSpPr>
            <p:cNvPr id="81" name="肘形连接符 80"/>
            <p:cNvCxnSpPr>
              <a:stCxn id="72" idx="3"/>
              <a:endCxn id="69" idx="3"/>
            </p:cNvCxnSpPr>
            <p:nvPr/>
          </p:nvCxnSpPr>
          <p:spPr>
            <a:xfrm flipV="true">
              <a:off x="17541" y="1632"/>
              <a:ext cx="17" cy="1150"/>
            </a:xfrm>
            <a:prstGeom prst="bentConnector3">
              <a:avLst>
                <a:gd name="adj1" fmla="val 2305882"/>
              </a:avLst>
            </a:prstGeom>
            <a:ln w="28575" cmpd="sng">
              <a:solidFill>
                <a:schemeClr val="accent1">
                  <a:shade val="50000"/>
                </a:schemeClr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肘形连接符 81"/>
            <p:cNvCxnSpPr>
              <a:stCxn id="73" idx="3"/>
              <a:endCxn id="69" idx="3"/>
            </p:cNvCxnSpPr>
            <p:nvPr/>
          </p:nvCxnSpPr>
          <p:spPr>
            <a:xfrm flipV="true">
              <a:off x="17526" y="1632"/>
              <a:ext cx="32" cy="2325"/>
            </a:xfrm>
            <a:prstGeom prst="bentConnector3">
              <a:avLst>
                <a:gd name="adj1" fmla="val 2415625"/>
              </a:avLst>
            </a:prstGeom>
            <a:ln w="28575" cmpd="sng">
              <a:solidFill>
                <a:schemeClr val="accent1">
                  <a:shade val="50000"/>
                </a:schemeClr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肘形连接符 82"/>
            <p:cNvCxnSpPr>
              <a:stCxn id="80" idx="3"/>
              <a:endCxn id="69" idx="3"/>
            </p:cNvCxnSpPr>
            <p:nvPr/>
          </p:nvCxnSpPr>
          <p:spPr>
            <a:xfrm flipV="true">
              <a:off x="17541" y="1632"/>
              <a:ext cx="17" cy="4700"/>
            </a:xfrm>
            <a:prstGeom prst="bentConnector3">
              <a:avLst>
                <a:gd name="adj1" fmla="val 7306250"/>
              </a:avLst>
            </a:prstGeom>
            <a:ln w="28575" cmpd="sng">
              <a:solidFill>
                <a:schemeClr val="accent1">
                  <a:shade val="50000"/>
                </a:schemeClr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文本框 58"/>
            <p:cNvSpPr txBox="true"/>
            <p:nvPr/>
          </p:nvSpPr>
          <p:spPr>
            <a:xfrm>
              <a:off x="15543" y="3107"/>
              <a:ext cx="947" cy="42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false">
              <a:spAutoFit/>
            </a:bodyPr>
            <a:p>
              <a:r>
                <a:rPr lang="zh-CN" altLang="en-US" sz="1000">
                  <a:latin typeface="国标黑体" panose="02000500000000000000" charset="-122"/>
                  <a:ea typeface="国标黑体" panose="02000500000000000000" charset="-122"/>
                  <a:sym typeface="宋体" pitchFamily="2" charset="-122"/>
                </a:rPr>
                <a:t>同</a:t>
              </a:r>
              <a:r>
                <a:rPr lang="en-US" altLang="zh-CN" sz="1000">
                  <a:latin typeface="国标黑体" panose="02000500000000000000" charset="-122"/>
                  <a:ea typeface="国标黑体" panose="02000500000000000000" charset="-122"/>
                  <a:sym typeface="宋体" pitchFamily="2" charset="-122"/>
                </a:rPr>
                <a:t>    </a:t>
              </a:r>
              <a:r>
                <a:rPr lang="zh-CN" altLang="en-US" sz="1000">
                  <a:latin typeface="国标黑体" panose="02000500000000000000" charset="-122"/>
                  <a:ea typeface="国标黑体" panose="02000500000000000000" charset="-122"/>
                  <a:sym typeface="宋体" pitchFamily="2" charset="-122"/>
                </a:rPr>
                <a:t>意</a:t>
              </a:r>
              <a:endParaRPr lang="zh-CN" altLang="en-US" sz="1000">
                <a:latin typeface="国标黑体" panose="02000500000000000000" charset="-122"/>
                <a:ea typeface="国标黑体" panose="02000500000000000000" charset="-122"/>
              </a:endParaRPr>
            </a:p>
          </p:txBody>
        </p:sp>
        <p:sp>
          <p:nvSpPr>
            <p:cNvPr id="87" name="文本框 63"/>
            <p:cNvSpPr txBox="true"/>
            <p:nvPr/>
          </p:nvSpPr>
          <p:spPr>
            <a:xfrm>
              <a:off x="17561" y="1204"/>
              <a:ext cx="1145" cy="42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false">
              <a:spAutoFit/>
            </a:bodyPr>
            <a:p>
              <a:r>
                <a:rPr lang="zh-CN" altLang="zh-CN" sz="1000">
                  <a:latin typeface="国标黑体" panose="02000500000000000000" charset="-122"/>
                  <a:ea typeface="国标黑体" panose="02000500000000000000" charset="-122"/>
                  <a:sym typeface="宋体" pitchFamily="2" charset="-122"/>
                </a:rPr>
                <a:t>退回修改</a:t>
              </a:r>
              <a:endParaRPr lang="zh-CN" altLang="zh-CN" sz="1000">
                <a:latin typeface="国标黑体" panose="02000500000000000000" charset="-122"/>
                <a:ea typeface="国标黑体" panose="02000500000000000000" charset="-122"/>
              </a:endParaRPr>
            </a:p>
          </p:txBody>
        </p:sp>
        <p:sp>
          <p:nvSpPr>
            <p:cNvPr id="88" name="文本框 71"/>
            <p:cNvSpPr txBox="true"/>
            <p:nvPr/>
          </p:nvSpPr>
          <p:spPr>
            <a:xfrm>
              <a:off x="17561" y="1829"/>
              <a:ext cx="1305" cy="42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false">
              <a:spAutoFit/>
            </a:bodyPr>
            <a:p>
              <a:r>
                <a:rPr lang="zh-CN" altLang="en-US" sz="1000">
                  <a:latin typeface="国标黑体" panose="02000500000000000000" charset="-122"/>
                  <a:ea typeface="国标黑体" panose="02000500000000000000" charset="-122"/>
                  <a:sym typeface="宋体" pitchFamily="2" charset="-122"/>
                </a:rPr>
                <a:t>不</a:t>
              </a:r>
              <a:r>
                <a:rPr lang="en-US" altLang="zh-CN" sz="1000">
                  <a:latin typeface="国标黑体" panose="02000500000000000000" charset="-122"/>
                  <a:ea typeface="国标黑体" panose="02000500000000000000" charset="-122"/>
                  <a:sym typeface="宋体" pitchFamily="2" charset="-122"/>
                </a:rPr>
                <a:t>  </a:t>
              </a:r>
              <a:r>
                <a:rPr lang="zh-CN" altLang="en-US" sz="1000">
                  <a:latin typeface="国标黑体" panose="02000500000000000000" charset="-122"/>
                  <a:ea typeface="国标黑体" panose="02000500000000000000" charset="-122"/>
                  <a:sym typeface="宋体" pitchFamily="2" charset="-122"/>
                </a:rPr>
                <a:t>同</a:t>
              </a:r>
              <a:r>
                <a:rPr lang="en-US" altLang="zh-CN" sz="1000">
                  <a:latin typeface="国标黑体" panose="02000500000000000000" charset="-122"/>
                  <a:ea typeface="国标黑体" panose="02000500000000000000" charset="-122"/>
                  <a:sym typeface="宋体" pitchFamily="2" charset="-122"/>
                </a:rPr>
                <a:t>  </a:t>
              </a:r>
              <a:r>
                <a:rPr lang="zh-CN" altLang="en-US" sz="1000">
                  <a:latin typeface="国标黑体" panose="02000500000000000000" charset="-122"/>
                  <a:ea typeface="国标黑体" panose="02000500000000000000" charset="-122"/>
                  <a:sym typeface="宋体" pitchFamily="2" charset="-122"/>
                </a:rPr>
                <a:t>意</a:t>
              </a:r>
              <a:endParaRPr lang="zh-CN" altLang="en-US" sz="1000">
                <a:latin typeface="国标黑体" panose="02000500000000000000" charset="-122"/>
                <a:ea typeface="国标黑体" panose="02000500000000000000" charset="-122"/>
              </a:endParaRPr>
            </a:p>
          </p:txBody>
        </p:sp>
      </p:grpSp>
      <p:sp>
        <p:nvSpPr>
          <p:cNvPr id="89" name="文本框 58"/>
          <p:cNvSpPr txBox="true"/>
          <p:nvPr/>
        </p:nvSpPr>
        <p:spPr>
          <a:xfrm>
            <a:off x="8492401" y="3227250"/>
            <a:ext cx="708863" cy="244916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false">
            <a:spAutoFit/>
          </a:bodyPr>
          <a:p>
            <a:r>
              <a:rPr lang="zh-CN" altLang="en-US" sz="1000">
                <a:latin typeface="国标黑体" panose="02000500000000000000" charset="-122"/>
                <a:ea typeface="国标黑体" panose="02000500000000000000" charset="-122"/>
                <a:sym typeface="宋体" pitchFamily="2" charset="-122"/>
              </a:rPr>
              <a:t>同</a:t>
            </a:r>
            <a:r>
              <a:rPr lang="en-US" altLang="zh-CN" sz="1000">
                <a:latin typeface="国标黑体" panose="02000500000000000000" charset="-122"/>
                <a:ea typeface="国标黑体" panose="02000500000000000000" charset="-122"/>
                <a:sym typeface="宋体" pitchFamily="2" charset="-122"/>
              </a:rPr>
              <a:t>    </a:t>
            </a:r>
            <a:r>
              <a:rPr lang="zh-CN" altLang="en-US" sz="1000">
                <a:latin typeface="国标黑体" panose="02000500000000000000" charset="-122"/>
                <a:ea typeface="国标黑体" panose="02000500000000000000" charset="-122"/>
                <a:sym typeface="宋体" pitchFamily="2" charset="-122"/>
              </a:rPr>
              <a:t>意</a:t>
            </a:r>
            <a:endParaRPr lang="zh-CN" altLang="en-US" sz="1000">
              <a:latin typeface="国标黑体" panose="02000500000000000000" charset="-122"/>
              <a:ea typeface="国标黑体" panose="02000500000000000000" charset="-122"/>
            </a:endParaRPr>
          </a:p>
        </p:txBody>
      </p:sp>
      <p:sp>
        <p:nvSpPr>
          <p:cNvPr id="90" name="文本框 58"/>
          <p:cNvSpPr txBox="true"/>
          <p:nvPr/>
        </p:nvSpPr>
        <p:spPr>
          <a:xfrm>
            <a:off x="8503196" y="4584245"/>
            <a:ext cx="708863" cy="244916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false">
            <a:spAutoFit/>
          </a:bodyPr>
          <a:p>
            <a:r>
              <a:rPr lang="zh-CN" altLang="en-US" sz="1000">
                <a:latin typeface="国标黑体" panose="02000500000000000000" charset="-122"/>
                <a:ea typeface="国标黑体" panose="02000500000000000000" charset="-122"/>
                <a:sym typeface="宋体" pitchFamily="2" charset="-122"/>
              </a:rPr>
              <a:t>同</a:t>
            </a:r>
            <a:r>
              <a:rPr lang="en-US" altLang="zh-CN" sz="1000">
                <a:latin typeface="国标黑体" panose="02000500000000000000" charset="-122"/>
                <a:ea typeface="国标黑体" panose="02000500000000000000" charset="-122"/>
                <a:sym typeface="宋体" pitchFamily="2" charset="-122"/>
              </a:rPr>
              <a:t>    </a:t>
            </a:r>
            <a:r>
              <a:rPr lang="zh-CN" altLang="en-US" sz="1000">
                <a:latin typeface="国标黑体" panose="02000500000000000000" charset="-122"/>
                <a:ea typeface="国标黑体" panose="02000500000000000000" charset="-122"/>
                <a:sym typeface="宋体" pitchFamily="2" charset="-122"/>
              </a:rPr>
              <a:t>意</a:t>
            </a:r>
            <a:endParaRPr lang="zh-CN" altLang="en-US" sz="1000">
              <a:latin typeface="国标黑体" panose="02000500000000000000" charset="-122"/>
              <a:ea typeface="国标黑体" panose="02000500000000000000" charset="-122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3814445" y="1426845"/>
            <a:ext cx="1426210" cy="54292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p>
            <a:pPr algn="ctr" fontAlgn="auto"/>
            <a:r>
              <a:rPr lang="zh-CN" altLang="en-US" sz="1200" b="1" strike="noStrike" noProof="1">
                <a:solidFill>
                  <a:schemeClr val="tx1"/>
                </a:solidFill>
                <a:effectLst/>
              </a:rPr>
              <a:t>申请主体</a:t>
            </a:r>
            <a:endParaRPr lang="zh-CN" altLang="en-US" sz="1200" b="1" strike="noStrike" noProof="1">
              <a:solidFill>
                <a:schemeClr val="tx1"/>
              </a:solidFill>
              <a:effectLst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784225" y="1969770"/>
            <a:ext cx="4457700" cy="2973070"/>
            <a:chOff x="1234" y="4650"/>
            <a:chExt cx="7020" cy="4682"/>
          </a:xfrm>
        </p:grpSpPr>
        <p:sp>
          <p:nvSpPr>
            <p:cNvPr id="16" name="矩形 15"/>
            <p:cNvSpPr/>
            <p:nvPr/>
          </p:nvSpPr>
          <p:spPr>
            <a:xfrm>
              <a:off x="6010" y="6921"/>
              <a:ext cx="2245" cy="855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</a:bodyPr>
            <a:p>
              <a:pPr algn="ctr" fontAlgn="auto"/>
              <a:r>
                <a:rPr lang="zh-CN" altLang="en-US" sz="1200" b="1" strike="noStrike" noProof="1">
                  <a:solidFill>
                    <a:schemeClr val="tx1"/>
                  </a:solidFill>
                  <a:effectLst/>
                </a:rPr>
                <a:t>远程驾驶示范应用</a:t>
              </a:r>
              <a:endParaRPr lang="zh-CN" altLang="en-US" sz="1200" b="1" strike="noStrike" noProof="1"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55" name="矩形 54"/>
            <p:cNvSpPr/>
            <p:nvPr/>
          </p:nvSpPr>
          <p:spPr>
            <a:xfrm>
              <a:off x="6007" y="5364"/>
              <a:ext cx="2245" cy="855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</a:bodyPr>
            <a:p>
              <a:pPr algn="ctr" fontAlgn="auto"/>
              <a:r>
                <a:rPr lang="zh-CN" altLang="en-US" sz="1200" b="1" strike="noStrike" noProof="1">
                  <a:solidFill>
                    <a:schemeClr val="tx1"/>
                  </a:solidFill>
                  <a:effectLst/>
                </a:rPr>
                <a:t>远程驾驶道路测试</a:t>
              </a:r>
              <a:endParaRPr lang="zh-CN" altLang="en-US" sz="1200" b="1" strike="noStrike" noProof="1"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57" name="矩形 56"/>
            <p:cNvSpPr/>
            <p:nvPr/>
          </p:nvSpPr>
          <p:spPr>
            <a:xfrm>
              <a:off x="6008" y="8478"/>
              <a:ext cx="2245" cy="855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</a:bodyPr>
            <a:p>
              <a:pPr algn="ctr" fontAlgn="auto"/>
              <a:r>
                <a:rPr lang="zh-CN" altLang="en-US" sz="1200" b="1" strike="noStrike" noProof="1">
                  <a:solidFill>
                    <a:schemeClr val="tx1"/>
                  </a:solidFill>
                  <a:effectLst/>
                </a:rPr>
                <a:t>商业化试点</a:t>
              </a:r>
              <a:endParaRPr lang="zh-CN" altLang="en-US" sz="1200" b="1" strike="noStrike" noProof="1">
                <a:solidFill>
                  <a:schemeClr val="tx1"/>
                </a:solidFill>
                <a:effectLst/>
              </a:endParaRPr>
            </a:p>
          </p:txBody>
        </p:sp>
        <p:cxnSp>
          <p:nvCxnSpPr>
            <p:cNvPr id="92" name="直接箭头连接符 91"/>
            <p:cNvCxnSpPr/>
            <p:nvPr/>
          </p:nvCxnSpPr>
          <p:spPr>
            <a:xfrm>
              <a:off x="7131" y="4659"/>
              <a:ext cx="1" cy="702"/>
            </a:xfrm>
            <a:prstGeom prst="straightConnector1">
              <a:avLst/>
            </a:prstGeom>
            <a:ln w="28575" cmpd="sng">
              <a:solidFill>
                <a:schemeClr val="accent1">
                  <a:shade val="50000"/>
                </a:schemeClr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箭头连接符 92"/>
            <p:cNvCxnSpPr/>
            <p:nvPr/>
          </p:nvCxnSpPr>
          <p:spPr>
            <a:xfrm>
              <a:off x="7132" y="6219"/>
              <a:ext cx="1" cy="702"/>
            </a:xfrm>
            <a:prstGeom prst="straightConnector1">
              <a:avLst/>
            </a:prstGeom>
            <a:ln w="28575" cmpd="sng">
              <a:solidFill>
                <a:schemeClr val="accent1">
                  <a:shade val="50000"/>
                </a:schemeClr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箭头连接符 93"/>
            <p:cNvCxnSpPr/>
            <p:nvPr/>
          </p:nvCxnSpPr>
          <p:spPr>
            <a:xfrm>
              <a:off x="7129" y="7776"/>
              <a:ext cx="1" cy="702"/>
            </a:xfrm>
            <a:prstGeom prst="straightConnector1">
              <a:avLst/>
            </a:prstGeom>
            <a:ln w="28575" cmpd="sng">
              <a:solidFill>
                <a:schemeClr val="accent1">
                  <a:shade val="50000"/>
                </a:schemeClr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5" name="矩形 104"/>
            <p:cNvSpPr/>
            <p:nvPr/>
          </p:nvSpPr>
          <p:spPr>
            <a:xfrm>
              <a:off x="1235" y="4650"/>
              <a:ext cx="3991" cy="711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</a:bodyPr>
            <a:p>
              <a:pPr algn="ctr" fontAlgn="auto"/>
              <a:r>
                <a:rPr lang="zh-CN" altLang="en-US" sz="1000" b="1">
                  <a:sym typeface="+mn-ea"/>
                </a:rPr>
                <a:t>进阶要求详见《规程》第二条</a:t>
              </a:r>
              <a:endParaRPr lang="zh-CN" altLang="en-US" sz="1000" b="1">
                <a:sym typeface="+mn-ea"/>
              </a:endParaRPr>
            </a:p>
            <a:p>
              <a:pPr algn="ctr" fontAlgn="auto"/>
              <a:r>
                <a:rPr lang="zh-CN" altLang="en-US" sz="1000" b="1">
                  <a:sym typeface="+mn-ea"/>
                </a:rPr>
                <a:t>申请材料详见《规程》第七条</a:t>
              </a:r>
              <a:endParaRPr lang="zh-CN" altLang="en-US" sz="1000" b="1" strike="noStrike" noProof="1">
                <a:solidFill>
                  <a:schemeClr val="tx1"/>
                </a:solidFill>
                <a:effectLst/>
                <a:sym typeface="+mn-ea"/>
              </a:endParaRPr>
            </a:p>
          </p:txBody>
        </p:sp>
        <p:sp>
          <p:nvSpPr>
            <p:cNvPr id="107" name="矩形 106"/>
            <p:cNvSpPr/>
            <p:nvPr/>
          </p:nvSpPr>
          <p:spPr>
            <a:xfrm>
              <a:off x="1234" y="6219"/>
              <a:ext cx="3988" cy="711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</a:bodyPr>
            <a:p>
              <a:pPr algn="ctr" fontAlgn="auto"/>
              <a:r>
                <a:rPr lang="zh-CN" altLang="en-US" sz="1000" b="1">
                  <a:sym typeface="+mn-ea"/>
                </a:rPr>
                <a:t>进阶要求详见《规程》第十八条</a:t>
              </a:r>
              <a:endParaRPr lang="zh-CN" altLang="en-US" sz="1000" b="1">
                <a:sym typeface="+mn-ea"/>
              </a:endParaRPr>
            </a:p>
            <a:p>
              <a:pPr algn="ctr" fontAlgn="auto"/>
              <a:r>
                <a:rPr lang="zh-CN" altLang="en-US" sz="1000" b="1">
                  <a:sym typeface="+mn-ea"/>
                </a:rPr>
                <a:t>申请材料详见《规程》第二十条</a:t>
              </a:r>
              <a:endParaRPr lang="zh-CN" altLang="en-US" sz="1000" b="1" strike="noStrike" noProof="1">
                <a:solidFill>
                  <a:schemeClr val="tx1"/>
                </a:solidFill>
                <a:effectLst/>
                <a:sym typeface="+mn-ea"/>
              </a:endParaRPr>
            </a:p>
          </p:txBody>
        </p:sp>
        <p:sp>
          <p:nvSpPr>
            <p:cNvPr id="109" name="矩形 108"/>
            <p:cNvSpPr/>
            <p:nvPr/>
          </p:nvSpPr>
          <p:spPr>
            <a:xfrm>
              <a:off x="1234" y="7720"/>
              <a:ext cx="3984" cy="741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</a:bodyPr>
            <a:p>
              <a:pPr algn="ctr" fontAlgn="auto"/>
              <a:r>
                <a:rPr lang="zh-CN" altLang="en-US" sz="1000" b="1">
                  <a:sym typeface="+mn-ea"/>
                </a:rPr>
                <a:t>进阶要求详见《规程》第三十条</a:t>
              </a:r>
              <a:endParaRPr lang="zh-CN" altLang="en-US" sz="1000" b="1">
                <a:sym typeface="+mn-ea"/>
              </a:endParaRPr>
            </a:p>
            <a:p>
              <a:pPr algn="ctr" fontAlgn="auto"/>
              <a:r>
                <a:rPr lang="zh-CN" altLang="en-US" sz="1000" b="1">
                  <a:sym typeface="+mn-ea"/>
                </a:rPr>
                <a:t>申请材料详见《规程》第三十四条</a:t>
              </a:r>
              <a:endParaRPr lang="zh-CN" altLang="en-US" sz="1000" b="1" strike="noStrike" noProof="1">
                <a:solidFill>
                  <a:schemeClr val="tx1"/>
                </a:solidFill>
                <a:effectLst/>
                <a:sym typeface="+mn-ea"/>
              </a:endParaRPr>
            </a:p>
          </p:txBody>
        </p:sp>
        <p:grpSp>
          <p:nvGrpSpPr>
            <p:cNvPr id="2" name="组合 1"/>
            <p:cNvGrpSpPr/>
            <p:nvPr/>
          </p:nvGrpSpPr>
          <p:grpSpPr>
            <a:xfrm rot="0">
              <a:off x="5218" y="4997"/>
              <a:ext cx="1910" cy="3128"/>
              <a:chOff x="5218" y="4997"/>
              <a:chExt cx="1910" cy="3128"/>
            </a:xfrm>
          </p:grpSpPr>
          <p:cxnSp>
            <p:nvCxnSpPr>
              <p:cNvPr id="106" name="直接连接符 105"/>
              <p:cNvCxnSpPr/>
              <p:nvPr/>
            </p:nvCxnSpPr>
            <p:spPr>
              <a:xfrm>
                <a:off x="5222" y="4997"/>
                <a:ext cx="1907" cy="3"/>
              </a:xfrm>
              <a:prstGeom prst="line">
                <a:avLst/>
              </a:prstGeom>
              <a:ln w="28575" cmpd="sng">
                <a:solidFill>
                  <a:schemeClr val="accent1">
                    <a:shade val="50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直接连接符 107"/>
              <p:cNvCxnSpPr/>
              <p:nvPr/>
            </p:nvCxnSpPr>
            <p:spPr>
              <a:xfrm>
                <a:off x="5218" y="6566"/>
                <a:ext cx="1907" cy="3"/>
              </a:xfrm>
              <a:prstGeom prst="line">
                <a:avLst/>
              </a:prstGeom>
              <a:ln w="28575" cmpd="sng">
                <a:solidFill>
                  <a:schemeClr val="accent1">
                    <a:shade val="50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直接连接符 109"/>
              <p:cNvCxnSpPr/>
              <p:nvPr/>
            </p:nvCxnSpPr>
            <p:spPr>
              <a:xfrm>
                <a:off x="5222" y="8123"/>
                <a:ext cx="1907" cy="3"/>
              </a:xfrm>
              <a:prstGeom prst="line">
                <a:avLst/>
              </a:prstGeom>
              <a:ln w="28575" cmpd="sng">
                <a:solidFill>
                  <a:schemeClr val="accent1">
                    <a:shade val="50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11" name="肘形连接符 110"/>
          <p:cNvCxnSpPr>
            <a:stCxn id="56" idx="3"/>
            <a:endCxn id="69" idx="1"/>
          </p:cNvCxnSpPr>
          <p:nvPr/>
        </p:nvCxnSpPr>
        <p:spPr>
          <a:xfrm flipV="true">
            <a:off x="5240655" y="1675130"/>
            <a:ext cx="2456815" cy="1012190"/>
          </a:xfrm>
          <a:prstGeom prst="bentConnector3">
            <a:avLst>
              <a:gd name="adj1" fmla="val 50013"/>
            </a:avLst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肘形连接符 111"/>
          <p:cNvCxnSpPr>
            <a:stCxn id="55" idx="3"/>
            <a:endCxn id="69" idx="1"/>
          </p:cNvCxnSpPr>
          <p:nvPr/>
        </p:nvCxnSpPr>
        <p:spPr>
          <a:xfrm flipV="true">
            <a:off x="5240655" y="1675130"/>
            <a:ext cx="2456815" cy="1019810"/>
          </a:xfrm>
          <a:prstGeom prst="bentConnector3">
            <a:avLst>
              <a:gd name="adj1" fmla="val 50013"/>
            </a:avLst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肘形连接符 112"/>
          <p:cNvCxnSpPr>
            <a:stCxn id="16" idx="3"/>
            <a:endCxn id="69" idx="1"/>
          </p:cNvCxnSpPr>
          <p:nvPr/>
        </p:nvCxnSpPr>
        <p:spPr>
          <a:xfrm flipV="true">
            <a:off x="5242560" y="1675130"/>
            <a:ext cx="2454910" cy="2008505"/>
          </a:xfrm>
          <a:prstGeom prst="bentConnector3">
            <a:avLst>
              <a:gd name="adj1" fmla="val 50000"/>
            </a:avLst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肘形连接符 113"/>
          <p:cNvCxnSpPr>
            <a:stCxn id="57" idx="3"/>
            <a:endCxn id="69" idx="1"/>
          </p:cNvCxnSpPr>
          <p:nvPr/>
        </p:nvCxnSpPr>
        <p:spPr>
          <a:xfrm flipV="true">
            <a:off x="5241290" y="1675130"/>
            <a:ext cx="2456180" cy="2997200"/>
          </a:xfrm>
          <a:prstGeom prst="bentConnector3">
            <a:avLst>
              <a:gd name="adj1" fmla="val 50000"/>
            </a:avLst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true"/>
          <p:nvPr/>
        </p:nvSpPr>
        <p:spPr>
          <a:xfrm>
            <a:off x="11250930" y="6413500"/>
            <a:ext cx="77597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latin typeface="+mn-ea"/>
              </a:rPr>
              <a:t>- 37 -</a:t>
            </a:r>
            <a:endParaRPr lang="en-US" altLang="zh-CN" sz="1200">
              <a:latin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1" name="文本框 24"/>
          <p:cNvSpPr txBox="true"/>
          <p:nvPr/>
        </p:nvSpPr>
        <p:spPr>
          <a:xfrm>
            <a:off x="3814128" y="141288"/>
            <a:ext cx="4564062" cy="70675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false">
            <a:spAutoFit/>
          </a:bodyPr>
          <a:p>
            <a:pPr algn="ctr"/>
            <a:r>
              <a:rPr lang="zh-CN" altLang="en-US" sz="2000">
                <a:latin typeface="方正小标宋简体" panose="02000000000000000000" charset="-122"/>
                <a:ea typeface="方正小标宋简体" panose="02000000000000000000" charset="-122"/>
              </a:rPr>
              <a:t>智慧环卫（无驾驶舱）应用场景</a:t>
            </a:r>
            <a:endParaRPr lang="zh-CN" altLang="en-US" sz="2000">
              <a:latin typeface="方正小标宋简体" panose="02000000000000000000" charset="-122"/>
              <a:ea typeface="方正小标宋简体" panose="02000000000000000000" charset="-122"/>
            </a:endParaRPr>
          </a:p>
          <a:p>
            <a:pPr algn="ctr"/>
            <a:r>
              <a:rPr lang="zh-CN" altLang="en-US" sz="2000">
                <a:latin typeface="方正小标宋简体" panose="02000000000000000000" charset="-122"/>
                <a:ea typeface="方正小标宋简体" panose="02000000000000000000" charset="-122"/>
              </a:rPr>
              <a:t>道路测试与示范应用进阶流程图</a:t>
            </a:r>
            <a:endParaRPr lang="zh-CN" altLang="en-US" sz="2000">
              <a:latin typeface="方正小标宋简体" panose="02000000000000000000" charset="-122"/>
              <a:ea typeface="方正小标宋简体" panose="02000000000000000000" charset="-122"/>
            </a:endParaRPr>
          </a:p>
        </p:txBody>
      </p:sp>
      <p:sp>
        <p:nvSpPr>
          <p:cNvPr id="4" name="文本框 3"/>
          <p:cNvSpPr txBox="true"/>
          <p:nvPr/>
        </p:nvSpPr>
        <p:spPr>
          <a:xfrm>
            <a:off x="95885" y="119380"/>
            <a:ext cx="109601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latin typeface="国标黑体" panose="02000500000000000000" charset="-122"/>
                <a:ea typeface="国标黑体" panose="02000500000000000000" charset="-122"/>
                <a:cs typeface="国标黑体" panose="02000500000000000000" charset="-122"/>
              </a:rPr>
              <a:t>附件</a:t>
            </a:r>
            <a:r>
              <a:rPr lang="en-US" altLang="zh-CN" sz="1600">
                <a:latin typeface="国标黑体" panose="02000500000000000000" charset="-122"/>
                <a:ea typeface="国标黑体" panose="02000500000000000000" charset="-122"/>
                <a:cs typeface="国标黑体" panose="02000500000000000000" charset="-122"/>
              </a:rPr>
              <a:t>12-3</a:t>
            </a:r>
            <a:endParaRPr lang="en-US" altLang="zh-CN" sz="1600">
              <a:latin typeface="国标黑体" panose="02000500000000000000" charset="-122"/>
              <a:ea typeface="国标黑体" panose="02000500000000000000" charset="-122"/>
              <a:cs typeface="国标黑体" panose="02000500000000000000" charset="-122"/>
            </a:endParaRPr>
          </a:p>
        </p:txBody>
      </p:sp>
      <p:sp>
        <p:nvSpPr>
          <p:cNvPr id="5175" name="文本框 3"/>
          <p:cNvSpPr txBox="true"/>
          <p:nvPr/>
        </p:nvSpPr>
        <p:spPr>
          <a:xfrm>
            <a:off x="2379980" y="848360"/>
            <a:ext cx="1086485" cy="337185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 anchorCtr="false">
            <a:spAutoFit/>
          </a:bodyPr>
          <a:p>
            <a:pPr algn="ctr"/>
            <a:r>
              <a:rPr lang="zh-CN" altLang="en-US" sz="1600">
                <a:latin typeface="CESI楷体-GB2312" panose="02000500000000000000" charset="-122"/>
                <a:ea typeface="CESI楷体-GB2312" panose="02000500000000000000" charset="-122"/>
              </a:rPr>
              <a:t>申报流程</a:t>
            </a:r>
            <a:endParaRPr lang="zh-CN" altLang="en-US" sz="1600">
              <a:latin typeface="CESI楷体-GB2312" panose="02000500000000000000" charset="-122"/>
              <a:ea typeface="CESI楷体-GB2312" panose="02000500000000000000" charset="-122"/>
            </a:endParaRPr>
          </a:p>
        </p:txBody>
      </p:sp>
      <p:cxnSp>
        <p:nvCxnSpPr>
          <p:cNvPr id="10" name="直接连接符 9"/>
          <p:cNvCxnSpPr/>
          <p:nvPr/>
        </p:nvCxnSpPr>
        <p:spPr>
          <a:xfrm flipH="true">
            <a:off x="6092190" y="848360"/>
            <a:ext cx="8255" cy="5755005"/>
          </a:xfrm>
          <a:prstGeom prst="line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3"/>
          <p:cNvSpPr txBox="true"/>
          <p:nvPr/>
        </p:nvSpPr>
        <p:spPr>
          <a:xfrm>
            <a:off x="8728710" y="848360"/>
            <a:ext cx="1086485" cy="337185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 anchorCtr="false">
            <a:spAutoFit/>
          </a:bodyPr>
          <a:p>
            <a:pPr algn="ctr"/>
            <a:r>
              <a:rPr lang="zh-CN" altLang="en-US" sz="1600">
                <a:latin typeface="CESI楷体-GB2312" panose="02000500000000000000" charset="-122"/>
                <a:ea typeface="CESI楷体-GB2312" panose="02000500000000000000" charset="-122"/>
              </a:rPr>
              <a:t>审批流程</a:t>
            </a:r>
            <a:endParaRPr lang="zh-CN" altLang="en-US" sz="1600">
              <a:latin typeface="CESI楷体-GB2312" panose="02000500000000000000" charset="-122"/>
              <a:ea typeface="CESI楷体-GB2312" panose="02000500000000000000" charset="-122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7549515" y="1426845"/>
            <a:ext cx="3445510" cy="4823460"/>
            <a:chOff x="14263" y="1204"/>
            <a:chExt cx="4603" cy="8311"/>
          </a:xfrm>
        </p:grpSpPr>
        <p:sp>
          <p:nvSpPr>
            <p:cNvPr id="34" name="文本框 33"/>
            <p:cNvSpPr txBox="true"/>
            <p:nvPr/>
          </p:nvSpPr>
          <p:spPr>
            <a:xfrm>
              <a:off x="14473" y="3642"/>
              <a:ext cx="3007" cy="68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algn="ctr" fontAlgn="auto"/>
              <a:r>
                <a:rPr lang="zh-CN" altLang="en-US" sz="1000" b="1" noProof="1"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" panose="02080604020202020204" pitchFamily="34" charset="0"/>
                  <a:ea typeface="宋体" pitchFamily="2" charset="-122"/>
                  <a:cs typeface="+mn-cs"/>
                  <a:sym typeface="+mn-ea"/>
                </a:rPr>
                <a:t>第三方专业管理机构</a:t>
              </a:r>
              <a:endParaRPr lang="zh-CN" altLang="en-US" sz="1000" b="1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 algn="ctr" fontAlgn="auto"/>
              <a:r>
                <a:rPr lang="zh-CN" altLang="en-US" sz="1000" b="1" noProof="1"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" panose="02080604020202020204" pitchFamily="34" charset="0"/>
                  <a:ea typeface="宋体" pitchFamily="2" charset="-122"/>
                  <a:cs typeface="+mn-cs"/>
                  <a:sym typeface="+mn-ea"/>
                </a:rPr>
                <a:t>组织召开专家评审会论证</a:t>
              </a:r>
              <a:endParaRPr lang="zh-CN" altLang="en-US" sz="1000" b="1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endParaRPr>
            </a:p>
          </p:txBody>
        </p:sp>
        <p:grpSp>
          <p:nvGrpSpPr>
            <p:cNvPr id="43" name="组合 56"/>
            <p:cNvGrpSpPr/>
            <p:nvPr/>
          </p:nvGrpSpPr>
          <p:grpSpPr>
            <a:xfrm rot="0">
              <a:off x="14263" y="1204"/>
              <a:ext cx="3587" cy="8311"/>
              <a:chOff x="14415" y="850"/>
              <a:chExt cx="3586" cy="8310"/>
            </a:xfrm>
          </p:grpSpPr>
          <p:sp>
            <p:nvSpPr>
              <p:cNvPr id="51" name="矩形 50"/>
              <p:cNvSpPr/>
              <p:nvPr/>
            </p:nvSpPr>
            <p:spPr>
              <a:xfrm>
                <a:off x="14616" y="4374"/>
                <a:ext cx="3095" cy="855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>
                <a:scene3d>
                  <a:camera prst="orthographicFront"/>
                  <a:lightRig rig="threePt" dir="t"/>
                </a:scene3d>
              </a:bodyPr>
              <a:p>
                <a:pPr algn="ctr" fontAlgn="auto"/>
                <a:r>
                  <a:rPr lang="zh-CN" altLang="en-US" sz="1000" b="1" strike="noStrike" noProof="1"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论证意见提交专班办公室</a:t>
                </a:r>
                <a:endParaRPr lang="zh-CN" altLang="en-US" sz="1000" b="1" strike="noStrike" noProof="1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</p:txBody>
          </p:sp>
          <p:sp>
            <p:nvSpPr>
              <p:cNvPr id="59" name="矩形 58"/>
              <p:cNvSpPr/>
              <p:nvPr/>
            </p:nvSpPr>
            <p:spPr>
              <a:xfrm>
                <a:off x="14613" y="6712"/>
                <a:ext cx="3098" cy="1285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>
                <a:scene3d>
                  <a:camera prst="orthographicFront"/>
                  <a:lightRig rig="threePt" dir="t"/>
                </a:scene3d>
              </a:bodyPr>
              <a:p>
                <a:pPr algn="ctr" fontAlgn="auto"/>
                <a:r>
                  <a:rPr lang="zh-CN" altLang="en-US" sz="1000" b="1" strike="noStrike" noProof="1"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到公安机关申领号牌</a:t>
                </a:r>
                <a:endParaRPr lang="zh-CN" altLang="en-US" sz="1000" b="1" strike="noStrike" noProof="1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  <a:p>
                <a:pPr algn="ctr" fontAlgn="auto"/>
                <a:r>
                  <a:rPr lang="zh-CN" altLang="en-US" sz="1000" b="1" strike="noStrike" noProof="1"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（号牌有效期为</a:t>
                </a:r>
                <a:r>
                  <a:rPr lang="en-US" altLang="zh-CN" sz="1000" b="1" strike="noStrike" noProof="1"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12</a:t>
                </a:r>
                <a:r>
                  <a:rPr lang="zh-CN" altLang="en-US" sz="1000" b="1" strike="noStrike" noProof="1"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个月）</a:t>
                </a:r>
                <a:endParaRPr lang="zh-CN" altLang="en-US" sz="1000" b="1" strike="noStrike" noProof="1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</p:txBody>
          </p:sp>
          <p:sp>
            <p:nvSpPr>
              <p:cNvPr id="60" name="矩形 59"/>
              <p:cNvSpPr/>
              <p:nvPr/>
            </p:nvSpPr>
            <p:spPr>
              <a:xfrm>
                <a:off x="14582" y="8305"/>
                <a:ext cx="3095" cy="855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>
                <a:scene3d>
                  <a:camera prst="orthographicFront"/>
                  <a:lightRig rig="threePt" dir="t"/>
                </a:scene3d>
              </a:bodyPr>
              <a:p>
                <a:pPr algn="ctr" fontAlgn="auto"/>
                <a:r>
                  <a:rPr lang="zh-CN" altLang="en-US" sz="1000" b="1" strike="noStrike" noProof="1"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安装监控装置并接受第三方</a:t>
                </a:r>
                <a:endParaRPr lang="zh-CN" altLang="en-US" sz="1000" b="1" strike="noStrike" noProof="1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  <a:p>
                <a:pPr algn="ctr" fontAlgn="auto"/>
                <a:r>
                  <a:rPr lang="zh-CN" altLang="en-US" sz="1000" b="1" strike="noStrike" noProof="1"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专业管理机构日常监管</a:t>
                </a:r>
                <a:endParaRPr lang="zh-CN" altLang="en-US" sz="1000" b="1" strike="noStrike" noProof="1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</p:txBody>
          </p:sp>
          <p:grpSp>
            <p:nvGrpSpPr>
              <p:cNvPr id="61" name="组合 55"/>
              <p:cNvGrpSpPr/>
              <p:nvPr/>
            </p:nvGrpSpPr>
            <p:grpSpPr>
              <a:xfrm>
                <a:off x="16143" y="1706"/>
                <a:ext cx="40" cy="6599"/>
                <a:chOff x="16143" y="1706"/>
                <a:chExt cx="40" cy="6599"/>
              </a:xfrm>
            </p:grpSpPr>
            <p:cxnSp>
              <p:nvCxnSpPr>
                <p:cNvPr id="62" name="直接箭头连接符 61"/>
                <p:cNvCxnSpPr>
                  <a:endCxn id="83" idx="0"/>
                </p:cNvCxnSpPr>
                <p:nvPr/>
              </p:nvCxnSpPr>
              <p:spPr>
                <a:xfrm>
                  <a:off x="16148" y="1706"/>
                  <a:ext cx="10" cy="308"/>
                </a:xfrm>
                <a:prstGeom prst="straightConnector1">
                  <a:avLst/>
                </a:prstGeom>
                <a:ln w="28575" cmpd="sng">
                  <a:solidFill>
                    <a:schemeClr val="accent1">
                      <a:shade val="50000"/>
                    </a:schemeClr>
                  </a:solidFill>
                  <a:prstDash val="solid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" name="直接箭头连接符 62"/>
                <p:cNvCxnSpPr>
                  <a:endCxn id="83" idx="0"/>
                </p:cNvCxnSpPr>
                <p:nvPr/>
              </p:nvCxnSpPr>
              <p:spPr>
                <a:xfrm>
                  <a:off x="16143" y="2866"/>
                  <a:ext cx="10" cy="308"/>
                </a:xfrm>
                <a:prstGeom prst="straightConnector1">
                  <a:avLst/>
                </a:prstGeom>
                <a:ln w="28575" cmpd="sng">
                  <a:solidFill>
                    <a:schemeClr val="accent1">
                      <a:shade val="50000"/>
                    </a:schemeClr>
                  </a:solidFill>
                  <a:prstDash val="solid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4" name="直接箭头连接符 63"/>
                <p:cNvCxnSpPr>
                  <a:endCxn id="83" idx="0"/>
                </p:cNvCxnSpPr>
                <p:nvPr/>
              </p:nvCxnSpPr>
              <p:spPr>
                <a:xfrm>
                  <a:off x="16153" y="4068"/>
                  <a:ext cx="10" cy="310"/>
                </a:xfrm>
                <a:prstGeom prst="straightConnector1">
                  <a:avLst/>
                </a:prstGeom>
                <a:ln w="28575" cmpd="sng">
                  <a:solidFill>
                    <a:schemeClr val="accent1">
                      <a:shade val="50000"/>
                    </a:schemeClr>
                  </a:solidFill>
                  <a:prstDash val="solid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" name="直接箭头连接符 65"/>
                <p:cNvCxnSpPr>
                  <a:endCxn id="83" idx="0"/>
                </p:cNvCxnSpPr>
                <p:nvPr/>
              </p:nvCxnSpPr>
              <p:spPr>
                <a:xfrm>
                  <a:off x="16163" y="5258"/>
                  <a:ext cx="10" cy="310"/>
                </a:xfrm>
                <a:prstGeom prst="straightConnector1">
                  <a:avLst/>
                </a:prstGeom>
                <a:ln w="28575" cmpd="sng">
                  <a:solidFill>
                    <a:schemeClr val="accent1">
                      <a:shade val="50000"/>
                    </a:schemeClr>
                  </a:solidFill>
                  <a:prstDash val="solid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7" name="直接箭头连接符 66"/>
                <p:cNvCxnSpPr>
                  <a:endCxn id="83" idx="0"/>
                </p:cNvCxnSpPr>
                <p:nvPr/>
              </p:nvCxnSpPr>
              <p:spPr>
                <a:xfrm>
                  <a:off x="16173" y="6393"/>
                  <a:ext cx="10" cy="310"/>
                </a:xfrm>
                <a:prstGeom prst="straightConnector1">
                  <a:avLst/>
                </a:prstGeom>
                <a:ln w="28575" cmpd="sng">
                  <a:solidFill>
                    <a:schemeClr val="accent1">
                      <a:shade val="50000"/>
                    </a:schemeClr>
                  </a:solidFill>
                  <a:prstDash val="solid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8" name="直接箭头连接符 67"/>
                <p:cNvCxnSpPr>
                  <a:endCxn id="83" idx="0"/>
                </p:cNvCxnSpPr>
                <p:nvPr/>
              </p:nvCxnSpPr>
              <p:spPr>
                <a:xfrm>
                  <a:off x="16148" y="7997"/>
                  <a:ext cx="10" cy="308"/>
                </a:xfrm>
                <a:prstGeom prst="straightConnector1">
                  <a:avLst/>
                </a:prstGeom>
                <a:ln w="28575" cmpd="sng">
                  <a:solidFill>
                    <a:schemeClr val="accent1">
                      <a:shade val="50000"/>
                    </a:schemeClr>
                  </a:solidFill>
                  <a:prstDash val="solid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9" name="矩形 68"/>
              <p:cNvSpPr/>
              <p:nvPr/>
            </p:nvSpPr>
            <p:spPr>
              <a:xfrm>
                <a:off x="14613" y="850"/>
                <a:ext cx="3096" cy="855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>
                <a:scene3d>
                  <a:camera prst="orthographicFront"/>
                  <a:lightRig rig="threePt" dir="t"/>
                </a:scene3d>
              </a:bodyPr>
              <a:p>
                <a:pPr algn="ctr" fontAlgn="auto"/>
                <a:r>
                  <a:rPr lang="zh-CN" altLang="en-US" sz="1000" b="1" strike="noStrike" noProof="1"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第三方专业管理机构</a:t>
                </a:r>
                <a:endParaRPr lang="zh-CN" altLang="en-US" sz="1000" b="1" strike="noStrike" noProof="1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  <a:p>
                <a:pPr algn="ctr" fontAlgn="auto"/>
                <a:r>
                  <a:rPr lang="zh-CN" altLang="en-US" sz="1000" b="1" strike="noStrike" noProof="1"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初</a:t>
                </a:r>
                <a:r>
                  <a:rPr lang="en-US" altLang="zh-CN" sz="1000" b="1" strike="noStrike" noProof="1"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  </a:t>
                </a:r>
                <a:r>
                  <a:rPr lang="zh-CN" altLang="en-US" sz="1000" b="1" strike="noStrike" noProof="1"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审</a:t>
                </a:r>
                <a:endParaRPr lang="zh-CN" altLang="en-US" sz="1000" b="1" strike="noStrike" noProof="1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</p:txBody>
          </p:sp>
          <p:grpSp>
            <p:nvGrpSpPr>
              <p:cNvPr id="70" name="组合 42"/>
              <p:cNvGrpSpPr/>
              <p:nvPr/>
            </p:nvGrpSpPr>
            <p:grpSpPr>
              <a:xfrm>
                <a:off x="14415" y="1986"/>
                <a:ext cx="3586" cy="881"/>
                <a:chOff x="8894" y="9156"/>
                <a:chExt cx="3283" cy="970"/>
              </a:xfrm>
            </p:grpSpPr>
            <p:sp>
              <p:nvSpPr>
                <p:cNvPr id="71" name="文本框 70"/>
                <p:cNvSpPr txBox="true"/>
                <p:nvPr/>
              </p:nvSpPr>
              <p:spPr>
                <a:xfrm>
                  <a:off x="8894" y="9327"/>
                  <a:ext cx="3283" cy="756"/>
                </a:xfrm>
                <a:prstGeom prst="rect">
                  <a:avLst/>
                </a:prstGeom>
                <a:noFill/>
              </p:spPr>
              <p:txBody>
                <a:bodyPr wrap="square" rtlCol="0" anchor="t">
                  <a:spAutoFit/>
                </a:bodyPr>
                <a:p>
                  <a:pPr algn="ctr" fontAlgn="auto"/>
                  <a:r>
                    <a:rPr lang="zh-CN" altLang="en-US" sz="1000" b="1" noProof="1">
                      <a:effectLst>
                        <a:outerShdw blurRad="38100" dist="19050" dir="2700000" algn="tl" rotWithShape="0">
                          <a:schemeClr val="dk1">
                            <a:alpha val="40000"/>
                          </a:schemeClr>
                        </a:outerShdw>
                      </a:effectLst>
                      <a:latin typeface="Arial" panose="02080604020202020204" pitchFamily="34" charset="0"/>
                      <a:ea typeface="宋体" pitchFamily="2" charset="-122"/>
                      <a:cs typeface="+mn-cs"/>
                      <a:sym typeface="+mn-ea"/>
                    </a:rPr>
                    <a:t>初审意见五个工作日内</a:t>
                  </a:r>
                  <a:endParaRPr lang="zh-CN" altLang="en-US" sz="1000" b="1" noProof="1"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endParaRPr>
                </a:p>
                <a:p>
                  <a:pPr algn="ctr" fontAlgn="auto"/>
                  <a:r>
                    <a:rPr lang="zh-CN" altLang="en-US" sz="1000" b="1" noProof="1">
                      <a:effectLst>
                        <a:outerShdw blurRad="38100" dist="19050" dir="2700000" algn="tl" rotWithShape="0">
                          <a:schemeClr val="dk1">
                            <a:alpha val="40000"/>
                          </a:schemeClr>
                        </a:outerShdw>
                      </a:effectLst>
                      <a:latin typeface="Arial" panose="02080604020202020204" pitchFamily="34" charset="0"/>
                      <a:ea typeface="宋体" pitchFamily="2" charset="-122"/>
                      <a:cs typeface="+mn-cs"/>
                      <a:sym typeface="+mn-ea"/>
                    </a:rPr>
                    <a:t>报专班办公室</a:t>
                  </a:r>
                  <a:endParaRPr lang="zh-CN" altLang="en-US" sz="1000" b="1" noProof="1"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sym typeface="+mn-ea"/>
                  </a:endParaRPr>
                </a:p>
              </p:txBody>
            </p:sp>
            <p:sp>
              <p:nvSpPr>
                <p:cNvPr id="72" name="菱形 71"/>
                <p:cNvSpPr/>
                <p:nvPr/>
              </p:nvSpPr>
              <p:spPr>
                <a:xfrm>
                  <a:off x="9094" y="9156"/>
                  <a:ext cx="2800" cy="970"/>
                </a:xfrm>
                <a:prstGeom prst="diamond">
                  <a:avLst/>
                </a:prstGeom>
                <a:noFill/>
                <a:ln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 fontAlgn="base"/>
                  <a:endParaRPr lang="zh-CN" altLang="en-US" strike="noStrike" noProof="1"/>
                </a:p>
              </p:txBody>
            </p:sp>
          </p:grpSp>
          <p:sp>
            <p:nvSpPr>
              <p:cNvPr id="73" name="菱形 72"/>
              <p:cNvSpPr/>
              <p:nvPr/>
            </p:nvSpPr>
            <p:spPr>
              <a:xfrm>
                <a:off x="14619" y="3160"/>
                <a:ext cx="3058" cy="881"/>
              </a:xfrm>
              <a:prstGeom prst="diamond">
                <a:avLst/>
              </a:prstGeom>
              <a:noFill/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 fontAlgn="base"/>
                <a:endParaRPr lang="zh-CN" altLang="en-US" strike="noStrike" noProof="1"/>
              </a:p>
            </p:txBody>
          </p:sp>
          <p:grpSp>
            <p:nvGrpSpPr>
              <p:cNvPr id="77" name="组合 49"/>
              <p:cNvGrpSpPr/>
              <p:nvPr/>
            </p:nvGrpSpPr>
            <p:grpSpPr>
              <a:xfrm>
                <a:off x="14635" y="5535"/>
                <a:ext cx="3058" cy="881"/>
                <a:chOff x="9600" y="9022"/>
                <a:chExt cx="3058" cy="881"/>
              </a:xfrm>
            </p:grpSpPr>
            <p:sp>
              <p:nvSpPr>
                <p:cNvPr id="79" name="文本框 78"/>
                <p:cNvSpPr txBox="true"/>
                <p:nvPr/>
              </p:nvSpPr>
              <p:spPr>
                <a:xfrm>
                  <a:off x="9878" y="9149"/>
                  <a:ext cx="2499" cy="687"/>
                </a:xfrm>
                <a:prstGeom prst="rect">
                  <a:avLst/>
                </a:prstGeom>
                <a:noFill/>
              </p:spPr>
              <p:txBody>
                <a:bodyPr wrap="square" rtlCol="0" anchor="t">
                  <a:spAutoFit/>
                </a:bodyPr>
                <a:p>
                  <a:pPr algn="ctr" fontAlgn="auto"/>
                  <a:r>
                    <a:rPr lang="zh-CN" altLang="en-US" sz="1000" b="1" noProof="1">
                      <a:effectLst>
                        <a:outerShdw blurRad="38100" dist="19050" dir="2700000" algn="tl" rotWithShape="0">
                          <a:schemeClr val="dk1">
                            <a:alpha val="40000"/>
                          </a:schemeClr>
                        </a:outerShdw>
                      </a:effectLst>
                      <a:latin typeface="Arial" panose="02080604020202020204" pitchFamily="34" charset="0"/>
                      <a:ea typeface="宋体" pitchFamily="2" charset="-122"/>
                      <a:cs typeface="+mn-cs"/>
                      <a:sym typeface="+mn-ea"/>
                    </a:rPr>
                    <a:t>专班办公室提请专班领导</a:t>
                  </a:r>
                  <a:endParaRPr lang="zh-CN" altLang="en-US" sz="1000" b="1" noProof="1"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sym typeface="+mn-ea"/>
                  </a:endParaRPr>
                </a:p>
                <a:p>
                  <a:pPr algn="ctr" fontAlgn="auto"/>
                  <a:r>
                    <a:rPr lang="zh-CN" altLang="en-US" sz="1000" b="1" noProof="1">
                      <a:effectLst>
                        <a:outerShdw blurRad="38100" dist="19050" dir="2700000" algn="tl" rotWithShape="0">
                          <a:schemeClr val="dk1">
                            <a:alpha val="40000"/>
                          </a:schemeClr>
                        </a:outerShdw>
                      </a:effectLst>
                      <a:latin typeface="Arial" panose="02080604020202020204" pitchFamily="34" charset="0"/>
                      <a:ea typeface="宋体" pitchFamily="2" charset="-122"/>
                      <a:cs typeface="+mn-cs"/>
                      <a:sym typeface="+mn-ea"/>
                    </a:rPr>
                    <a:t>召开专题会审议</a:t>
                  </a:r>
                  <a:endParaRPr lang="zh-CN" altLang="en-US" sz="1000" b="1" noProof="1"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sym typeface="+mn-ea"/>
                  </a:endParaRPr>
                </a:p>
              </p:txBody>
            </p:sp>
            <p:sp>
              <p:nvSpPr>
                <p:cNvPr id="80" name="菱形 79"/>
                <p:cNvSpPr/>
                <p:nvPr/>
              </p:nvSpPr>
              <p:spPr>
                <a:xfrm>
                  <a:off x="9600" y="9022"/>
                  <a:ext cx="3058" cy="881"/>
                </a:xfrm>
                <a:prstGeom prst="diamond">
                  <a:avLst/>
                </a:prstGeom>
                <a:noFill/>
                <a:ln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 fontAlgn="base"/>
                  <a:endParaRPr lang="zh-CN" altLang="en-US" strike="noStrike" noProof="1"/>
                </a:p>
              </p:txBody>
            </p:sp>
          </p:grpSp>
        </p:grpSp>
        <p:cxnSp>
          <p:nvCxnSpPr>
            <p:cNvPr id="81" name="肘形连接符 80"/>
            <p:cNvCxnSpPr>
              <a:stCxn id="72" idx="3"/>
              <a:endCxn id="69" idx="3"/>
            </p:cNvCxnSpPr>
            <p:nvPr/>
          </p:nvCxnSpPr>
          <p:spPr>
            <a:xfrm flipV="true">
              <a:off x="17541" y="1632"/>
              <a:ext cx="17" cy="1150"/>
            </a:xfrm>
            <a:prstGeom prst="bentConnector3">
              <a:avLst>
                <a:gd name="adj1" fmla="val 2305882"/>
              </a:avLst>
            </a:prstGeom>
            <a:ln w="28575" cmpd="sng">
              <a:solidFill>
                <a:schemeClr val="accent1">
                  <a:shade val="50000"/>
                </a:schemeClr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肘形连接符 81"/>
            <p:cNvCxnSpPr>
              <a:stCxn id="73" idx="3"/>
              <a:endCxn id="69" idx="3"/>
            </p:cNvCxnSpPr>
            <p:nvPr/>
          </p:nvCxnSpPr>
          <p:spPr>
            <a:xfrm flipV="true">
              <a:off x="17526" y="1632"/>
              <a:ext cx="32" cy="2325"/>
            </a:xfrm>
            <a:prstGeom prst="bentConnector3">
              <a:avLst>
                <a:gd name="adj1" fmla="val 2415625"/>
              </a:avLst>
            </a:prstGeom>
            <a:ln w="28575" cmpd="sng">
              <a:solidFill>
                <a:schemeClr val="accent1">
                  <a:shade val="50000"/>
                </a:schemeClr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肘形连接符 82"/>
            <p:cNvCxnSpPr>
              <a:stCxn id="80" idx="3"/>
              <a:endCxn id="69" idx="3"/>
            </p:cNvCxnSpPr>
            <p:nvPr/>
          </p:nvCxnSpPr>
          <p:spPr>
            <a:xfrm flipV="true">
              <a:off x="17541" y="1632"/>
              <a:ext cx="17" cy="4700"/>
            </a:xfrm>
            <a:prstGeom prst="bentConnector3">
              <a:avLst>
                <a:gd name="adj1" fmla="val 7306250"/>
              </a:avLst>
            </a:prstGeom>
            <a:ln w="28575" cmpd="sng">
              <a:solidFill>
                <a:schemeClr val="accent1">
                  <a:shade val="50000"/>
                </a:schemeClr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文本框 58"/>
            <p:cNvSpPr txBox="true"/>
            <p:nvPr/>
          </p:nvSpPr>
          <p:spPr>
            <a:xfrm>
              <a:off x="15543" y="3107"/>
              <a:ext cx="947" cy="42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false">
              <a:spAutoFit/>
            </a:bodyPr>
            <a:p>
              <a:r>
                <a:rPr lang="zh-CN" altLang="en-US" sz="1000">
                  <a:latin typeface="国标黑体" panose="02000500000000000000" charset="-122"/>
                  <a:ea typeface="国标黑体" panose="02000500000000000000" charset="-122"/>
                  <a:sym typeface="宋体" pitchFamily="2" charset="-122"/>
                </a:rPr>
                <a:t>同</a:t>
              </a:r>
              <a:r>
                <a:rPr lang="en-US" altLang="zh-CN" sz="1000">
                  <a:latin typeface="国标黑体" panose="02000500000000000000" charset="-122"/>
                  <a:ea typeface="国标黑体" panose="02000500000000000000" charset="-122"/>
                  <a:sym typeface="宋体" pitchFamily="2" charset="-122"/>
                </a:rPr>
                <a:t>    </a:t>
              </a:r>
              <a:r>
                <a:rPr lang="zh-CN" altLang="en-US" sz="1000">
                  <a:latin typeface="国标黑体" panose="02000500000000000000" charset="-122"/>
                  <a:ea typeface="国标黑体" panose="02000500000000000000" charset="-122"/>
                  <a:sym typeface="宋体" pitchFamily="2" charset="-122"/>
                </a:rPr>
                <a:t>意</a:t>
              </a:r>
              <a:endParaRPr lang="zh-CN" altLang="en-US" sz="1000">
                <a:latin typeface="国标黑体" panose="02000500000000000000" charset="-122"/>
                <a:ea typeface="国标黑体" panose="02000500000000000000" charset="-122"/>
              </a:endParaRPr>
            </a:p>
          </p:txBody>
        </p:sp>
        <p:sp>
          <p:nvSpPr>
            <p:cNvPr id="87" name="文本框 63"/>
            <p:cNvSpPr txBox="true"/>
            <p:nvPr/>
          </p:nvSpPr>
          <p:spPr>
            <a:xfrm>
              <a:off x="17561" y="1204"/>
              <a:ext cx="1145" cy="42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false">
              <a:spAutoFit/>
            </a:bodyPr>
            <a:p>
              <a:r>
                <a:rPr lang="zh-CN" altLang="zh-CN" sz="1000">
                  <a:latin typeface="国标黑体" panose="02000500000000000000" charset="-122"/>
                  <a:ea typeface="国标黑体" panose="02000500000000000000" charset="-122"/>
                  <a:sym typeface="宋体" pitchFamily="2" charset="-122"/>
                </a:rPr>
                <a:t>退回修改</a:t>
              </a:r>
              <a:endParaRPr lang="zh-CN" altLang="zh-CN" sz="1000">
                <a:latin typeface="国标黑体" panose="02000500000000000000" charset="-122"/>
                <a:ea typeface="国标黑体" panose="02000500000000000000" charset="-122"/>
              </a:endParaRPr>
            </a:p>
          </p:txBody>
        </p:sp>
        <p:sp>
          <p:nvSpPr>
            <p:cNvPr id="88" name="文本框 71"/>
            <p:cNvSpPr txBox="true"/>
            <p:nvPr/>
          </p:nvSpPr>
          <p:spPr>
            <a:xfrm>
              <a:off x="17561" y="1829"/>
              <a:ext cx="1305" cy="42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false">
              <a:spAutoFit/>
            </a:bodyPr>
            <a:p>
              <a:r>
                <a:rPr lang="zh-CN" altLang="en-US" sz="1000">
                  <a:latin typeface="国标黑体" panose="02000500000000000000" charset="-122"/>
                  <a:ea typeface="国标黑体" panose="02000500000000000000" charset="-122"/>
                  <a:sym typeface="宋体" pitchFamily="2" charset="-122"/>
                </a:rPr>
                <a:t>不</a:t>
              </a:r>
              <a:r>
                <a:rPr lang="en-US" altLang="zh-CN" sz="1000">
                  <a:latin typeface="国标黑体" panose="02000500000000000000" charset="-122"/>
                  <a:ea typeface="国标黑体" panose="02000500000000000000" charset="-122"/>
                  <a:sym typeface="宋体" pitchFamily="2" charset="-122"/>
                </a:rPr>
                <a:t>  </a:t>
              </a:r>
              <a:r>
                <a:rPr lang="zh-CN" altLang="en-US" sz="1000">
                  <a:latin typeface="国标黑体" panose="02000500000000000000" charset="-122"/>
                  <a:ea typeface="国标黑体" panose="02000500000000000000" charset="-122"/>
                  <a:sym typeface="宋体" pitchFamily="2" charset="-122"/>
                </a:rPr>
                <a:t>同</a:t>
              </a:r>
              <a:r>
                <a:rPr lang="en-US" altLang="zh-CN" sz="1000">
                  <a:latin typeface="国标黑体" panose="02000500000000000000" charset="-122"/>
                  <a:ea typeface="国标黑体" panose="02000500000000000000" charset="-122"/>
                  <a:sym typeface="宋体" pitchFamily="2" charset="-122"/>
                </a:rPr>
                <a:t>  </a:t>
              </a:r>
              <a:r>
                <a:rPr lang="zh-CN" altLang="en-US" sz="1000">
                  <a:latin typeface="国标黑体" panose="02000500000000000000" charset="-122"/>
                  <a:ea typeface="国标黑体" panose="02000500000000000000" charset="-122"/>
                  <a:sym typeface="宋体" pitchFamily="2" charset="-122"/>
                </a:rPr>
                <a:t>意</a:t>
              </a:r>
              <a:endParaRPr lang="zh-CN" altLang="en-US" sz="1000">
                <a:latin typeface="国标黑体" panose="02000500000000000000" charset="-122"/>
                <a:ea typeface="国标黑体" panose="02000500000000000000" charset="-122"/>
              </a:endParaRPr>
            </a:p>
          </p:txBody>
        </p:sp>
      </p:grpSp>
      <p:sp>
        <p:nvSpPr>
          <p:cNvPr id="89" name="文本框 58"/>
          <p:cNvSpPr txBox="true"/>
          <p:nvPr/>
        </p:nvSpPr>
        <p:spPr>
          <a:xfrm>
            <a:off x="8492401" y="3227250"/>
            <a:ext cx="708863" cy="244916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false">
            <a:spAutoFit/>
          </a:bodyPr>
          <a:p>
            <a:r>
              <a:rPr lang="zh-CN" altLang="en-US" sz="1000">
                <a:latin typeface="国标黑体" panose="02000500000000000000" charset="-122"/>
                <a:ea typeface="国标黑体" panose="02000500000000000000" charset="-122"/>
                <a:sym typeface="宋体" pitchFamily="2" charset="-122"/>
              </a:rPr>
              <a:t>同</a:t>
            </a:r>
            <a:r>
              <a:rPr lang="en-US" altLang="zh-CN" sz="1000">
                <a:latin typeface="国标黑体" panose="02000500000000000000" charset="-122"/>
                <a:ea typeface="国标黑体" panose="02000500000000000000" charset="-122"/>
                <a:sym typeface="宋体" pitchFamily="2" charset="-122"/>
              </a:rPr>
              <a:t>    </a:t>
            </a:r>
            <a:r>
              <a:rPr lang="zh-CN" altLang="en-US" sz="1000">
                <a:latin typeface="国标黑体" panose="02000500000000000000" charset="-122"/>
                <a:ea typeface="国标黑体" panose="02000500000000000000" charset="-122"/>
                <a:sym typeface="宋体" pitchFamily="2" charset="-122"/>
              </a:rPr>
              <a:t>意</a:t>
            </a:r>
            <a:endParaRPr lang="zh-CN" altLang="en-US" sz="1000">
              <a:latin typeface="国标黑体" panose="02000500000000000000" charset="-122"/>
              <a:ea typeface="国标黑体" panose="02000500000000000000" charset="-122"/>
            </a:endParaRPr>
          </a:p>
        </p:txBody>
      </p:sp>
      <p:sp>
        <p:nvSpPr>
          <p:cNvPr id="90" name="文本框 58"/>
          <p:cNvSpPr txBox="true"/>
          <p:nvPr/>
        </p:nvSpPr>
        <p:spPr>
          <a:xfrm>
            <a:off x="8503196" y="4584245"/>
            <a:ext cx="708863" cy="244916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false">
            <a:spAutoFit/>
          </a:bodyPr>
          <a:p>
            <a:r>
              <a:rPr lang="zh-CN" altLang="en-US" sz="1000">
                <a:latin typeface="国标黑体" panose="02000500000000000000" charset="-122"/>
                <a:ea typeface="国标黑体" panose="02000500000000000000" charset="-122"/>
                <a:sym typeface="宋体" pitchFamily="2" charset="-122"/>
              </a:rPr>
              <a:t>同</a:t>
            </a:r>
            <a:r>
              <a:rPr lang="en-US" altLang="zh-CN" sz="1000">
                <a:latin typeface="国标黑体" panose="02000500000000000000" charset="-122"/>
                <a:ea typeface="国标黑体" panose="02000500000000000000" charset="-122"/>
                <a:sym typeface="宋体" pitchFamily="2" charset="-122"/>
              </a:rPr>
              <a:t>    </a:t>
            </a:r>
            <a:r>
              <a:rPr lang="zh-CN" altLang="en-US" sz="1000">
                <a:latin typeface="国标黑体" panose="02000500000000000000" charset="-122"/>
                <a:ea typeface="国标黑体" panose="02000500000000000000" charset="-122"/>
                <a:sym typeface="宋体" pitchFamily="2" charset="-122"/>
              </a:rPr>
              <a:t>意</a:t>
            </a:r>
            <a:endParaRPr lang="zh-CN" altLang="en-US" sz="1000">
              <a:latin typeface="国标黑体" panose="02000500000000000000" charset="-122"/>
              <a:ea typeface="国标黑体" panose="02000500000000000000" charset="-122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3814445" y="1426845"/>
            <a:ext cx="1426210" cy="54292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p>
            <a:pPr algn="ctr" fontAlgn="auto"/>
            <a:r>
              <a:rPr lang="zh-CN" altLang="en-US" sz="1200" b="1" strike="noStrike" noProof="1">
                <a:solidFill>
                  <a:schemeClr val="tx1"/>
                </a:solidFill>
                <a:effectLst/>
              </a:rPr>
              <a:t>申请主体</a:t>
            </a:r>
            <a:endParaRPr lang="zh-CN" altLang="en-US" sz="1200" b="1" strike="noStrike" noProof="1">
              <a:solidFill>
                <a:schemeClr val="tx1"/>
              </a:solidFill>
              <a:effectLst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784225" y="1969770"/>
            <a:ext cx="4458335" cy="1985010"/>
            <a:chOff x="1234" y="4650"/>
            <a:chExt cx="7021" cy="3126"/>
          </a:xfrm>
        </p:grpSpPr>
        <p:sp>
          <p:nvSpPr>
            <p:cNvPr id="16" name="矩形 15"/>
            <p:cNvSpPr/>
            <p:nvPr/>
          </p:nvSpPr>
          <p:spPr>
            <a:xfrm>
              <a:off x="6010" y="6921"/>
              <a:ext cx="2245" cy="855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</a:bodyPr>
            <a:p>
              <a:pPr algn="ctr" fontAlgn="auto"/>
              <a:r>
                <a:rPr lang="zh-CN" altLang="en-US" sz="1200" b="1" strike="noStrike" noProof="1">
                  <a:solidFill>
                    <a:schemeClr val="tx1"/>
                  </a:solidFill>
                  <a:effectLst/>
                </a:rPr>
                <a:t>远程驾驶示范应用</a:t>
              </a:r>
              <a:endParaRPr lang="zh-CN" altLang="en-US" sz="1200" b="1" strike="noStrike" noProof="1"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55" name="矩形 54"/>
            <p:cNvSpPr/>
            <p:nvPr/>
          </p:nvSpPr>
          <p:spPr>
            <a:xfrm>
              <a:off x="6007" y="5364"/>
              <a:ext cx="2245" cy="855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</a:bodyPr>
            <a:p>
              <a:pPr algn="ctr" fontAlgn="auto"/>
              <a:r>
                <a:rPr lang="zh-CN" altLang="en-US" sz="1200" b="1" strike="noStrike" noProof="1">
                  <a:solidFill>
                    <a:schemeClr val="tx1"/>
                  </a:solidFill>
                  <a:effectLst/>
                </a:rPr>
                <a:t>远程驾驶道路测试</a:t>
              </a:r>
              <a:endParaRPr lang="zh-CN" altLang="en-US" sz="1200" b="1" strike="noStrike" noProof="1">
                <a:solidFill>
                  <a:schemeClr val="tx1"/>
                </a:solidFill>
                <a:effectLst/>
              </a:endParaRPr>
            </a:p>
          </p:txBody>
        </p:sp>
        <p:cxnSp>
          <p:nvCxnSpPr>
            <p:cNvPr id="92" name="直接箭头连接符 91"/>
            <p:cNvCxnSpPr/>
            <p:nvPr/>
          </p:nvCxnSpPr>
          <p:spPr>
            <a:xfrm>
              <a:off x="7131" y="4659"/>
              <a:ext cx="1" cy="702"/>
            </a:xfrm>
            <a:prstGeom prst="straightConnector1">
              <a:avLst/>
            </a:prstGeom>
            <a:ln w="28575" cmpd="sng">
              <a:solidFill>
                <a:schemeClr val="accent1">
                  <a:shade val="50000"/>
                </a:schemeClr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箭头连接符 92"/>
            <p:cNvCxnSpPr/>
            <p:nvPr/>
          </p:nvCxnSpPr>
          <p:spPr>
            <a:xfrm>
              <a:off x="7132" y="6219"/>
              <a:ext cx="1" cy="702"/>
            </a:xfrm>
            <a:prstGeom prst="straightConnector1">
              <a:avLst/>
            </a:prstGeom>
            <a:ln w="28575" cmpd="sng">
              <a:solidFill>
                <a:schemeClr val="accent1">
                  <a:shade val="50000"/>
                </a:schemeClr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5" name="矩形 104"/>
            <p:cNvSpPr/>
            <p:nvPr/>
          </p:nvSpPr>
          <p:spPr>
            <a:xfrm>
              <a:off x="1235" y="4650"/>
              <a:ext cx="3991" cy="711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</a:bodyPr>
            <a:p>
              <a:pPr algn="ctr" fontAlgn="auto"/>
              <a:r>
                <a:rPr lang="zh-CN" altLang="en-US" sz="1000" b="1">
                  <a:sym typeface="+mn-ea"/>
                </a:rPr>
                <a:t>进阶要求详见《规程》第二条</a:t>
              </a:r>
              <a:endParaRPr lang="zh-CN" altLang="en-US" sz="1000" b="1">
                <a:sym typeface="+mn-ea"/>
              </a:endParaRPr>
            </a:p>
            <a:p>
              <a:pPr algn="ctr" fontAlgn="auto"/>
              <a:r>
                <a:rPr lang="zh-CN" altLang="en-US" sz="1000" b="1">
                  <a:sym typeface="+mn-ea"/>
                </a:rPr>
                <a:t>申请材料详见《规程》第七条</a:t>
              </a:r>
              <a:endParaRPr lang="zh-CN" altLang="en-US" sz="1000" b="1" strike="noStrike" noProof="1">
                <a:solidFill>
                  <a:schemeClr val="tx1"/>
                </a:solidFill>
                <a:effectLst/>
                <a:sym typeface="+mn-ea"/>
              </a:endParaRPr>
            </a:p>
          </p:txBody>
        </p:sp>
        <p:sp>
          <p:nvSpPr>
            <p:cNvPr id="107" name="矩形 106"/>
            <p:cNvSpPr/>
            <p:nvPr/>
          </p:nvSpPr>
          <p:spPr>
            <a:xfrm>
              <a:off x="1234" y="6219"/>
              <a:ext cx="3988" cy="711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</a:bodyPr>
            <a:p>
              <a:pPr algn="ctr" fontAlgn="auto"/>
              <a:r>
                <a:rPr lang="zh-CN" altLang="en-US" sz="1000" b="1">
                  <a:sym typeface="+mn-ea"/>
                </a:rPr>
                <a:t>进阶要求详见《规程》第十八条</a:t>
              </a:r>
              <a:endParaRPr lang="zh-CN" altLang="en-US" sz="1000" b="1">
                <a:sym typeface="+mn-ea"/>
              </a:endParaRPr>
            </a:p>
            <a:p>
              <a:pPr algn="ctr" fontAlgn="auto"/>
              <a:r>
                <a:rPr lang="zh-CN" altLang="en-US" sz="1000" b="1">
                  <a:sym typeface="+mn-ea"/>
                </a:rPr>
                <a:t>申请材料详见《规程》第二十条</a:t>
              </a:r>
              <a:endParaRPr lang="zh-CN" altLang="en-US" sz="1000" b="1" strike="noStrike" noProof="1">
                <a:solidFill>
                  <a:schemeClr val="tx1"/>
                </a:solidFill>
                <a:effectLst/>
                <a:sym typeface="+mn-ea"/>
              </a:endParaRPr>
            </a:p>
          </p:txBody>
        </p:sp>
        <p:grpSp>
          <p:nvGrpSpPr>
            <p:cNvPr id="2" name="组合 1"/>
            <p:cNvGrpSpPr/>
            <p:nvPr/>
          </p:nvGrpSpPr>
          <p:grpSpPr>
            <a:xfrm rot="0">
              <a:off x="5218" y="4997"/>
              <a:ext cx="1911" cy="1572"/>
              <a:chOff x="5218" y="4997"/>
              <a:chExt cx="1911" cy="1572"/>
            </a:xfrm>
          </p:grpSpPr>
          <p:cxnSp>
            <p:nvCxnSpPr>
              <p:cNvPr id="106" name="直接连接符 105"/>
              <p:cNvCxnSpPr/>
              <p:nvPr/>
            </p:nvCxnSpPr>
            <p:spPr>
              <a:xfrm>
                <a:off x="5222" y="4997"/>
                <a:ext cx="1907" cy="3"/>
              </a:xfrm>
              <a:prstGeom prst="line">
                <a:avLst/>
              </a:prstGeom>
              <a:ln w="28575" cmpd="sng">
                <a:solidFill>
                  <a:schemeClr val="accent1">
                    <a:shade val="50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直接连接符 107"/>
              <p:cNvCxnSpPr/>
              <p:nvPr/>
            </p:nvCxnSpPr>
            <p:spPr>
              <a:xfrm>
                <a:off x="5218" y="6566"/>
                <a:ext cx="1907" cy="3"/>
              </a:xfrm>
              <a:prstGeom prst="line">
                <a:avLst/>
              </a:prstGeom>
              <a:ln w="28575" cmpd="sng">
                <a:solidFill>
                  <a:schemeClr val="accent1">
                    <a:shade val="50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11" name="肘形连接符 110"/>
          <p:cNvCxnSpPr>
            <a:stCxn id="56" idx="3"/>
            <a:endCxn id="69" idx="1"/>
          </p:cNvCxnSpPr>
          <p:nvPr/>
        </p:nvCxnSpPr>
        <p:spPr>
          <a:xfrm flipV="true">
            <a:off x="5240655" y="1675130"/>
            <a:ext cx="2456815" cy="1012190"/>
          </a:xfrm>
          <a:prstGeom prst="bentConnector3">
            <a:avLst>
              <a:gd name="adj1" fmla="val 50013"/>
            </a:avLst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肘形连接符 111"/>
          <p:cNvCxnSpPr>
            <a:stCxn id="55" idx="3"/>
            <a:endCxn id="69" idx="1"/>
          </p:cNvCxnSpPr>
          <p:nvPr/>
        </p:nvCxnSpPr>
        <p:spPr>
          <a:xfrm flipV="true">
            <a:off x="5240655" y="1675130"/>
            <a:ext cx="2456815" cy="1019810"/>
          </a:xfrm>
          <a:prstGeom prst="bentConnector3">
            <a:avLst>
              <a:gd name="adj1" fmla="val 50013"/>
            </a:avLst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肘形连接符 112"/>
          <p:cNvCxnSpPr>
            <a:stCxn id="16" idx="3"/>
            <a:endCxn id="69" idx="1"/>
          </p:cNvCxnSpPr>
          <p:nvPr/>
        </p:nvCxnSpPr>
        <p:spPr>
          <a:xfrm flipV="true">
            <a:off x="5242560" y="1675130"/>
            <a:ext cx="2454910" cy="2008505"/>
          </a:xfrm>
          <a:prstGeom prst="bentConnector3">
            <a:avLst>
              <a:gd name="adj1" fmla="val 50000"/>
            </a:avLst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true"/>
          <p:nvPr/>
        </p:nvSpPr>
        <p:spPr>
          <a:xfrm>
            <a:off x="11250930" y="6413500"/>
            <a:ext cx="77597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latin typeface="+mn-ea"/>
              </a:rPr>
              <a:t>- 38 -</a:t>
            </a:r>
            <a:endParaRPr lang="en-US" altLang="zh-CN" sz="1200">
              <a:latin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1" name="文本框 24"/>
          <p:cNvSpPr txBox="true"/>
          <p:nvPr/>
        </p:nvSpPr>
        <p:spPr>
          <a:xfrm>
            <a:off x="3814128" y="141288"/>
            <a:ext cx="4564062" cy="70675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false">
            <a:spAutoFit/>
          </a:bodyPr>
          <a:p>
            <a:pPr algn="ctr"/>
            <a:r>
              <a:rPr lang="zh-CN" altLang="en-US" sz="2000">
                <a:latin typeface="方正小标宋简体" panose="02000000000000000000" charset="-122"/>
                <a:ea typeface="方正小标宋简体" panose="02000000000000000000" charset="-122"/>
                <a:sym typeface="+mn-ea"/>
              </a:rPr>
              <a:t>智慧物流、智慧公交</a:t>
            </a:r>
            <a:r>
              <a:rPr lang="zh-CN" altLang="en-US" sz="2000">
                <a:latin typeface="方正小标宋简体" panose="02000000000000000000" charset="-122"/>
                <a:ea typeface="方正小标宋简体" panose="02000000000000000000" charset="-122"/>
              </a:rPr>
              <a:t>应用场景道路测试与示范应用进阶流程图（全程有人）</a:t>
            </a:r>
            <a:endParaRPr lang="zh-CN" altLang="en-US" sz="2000">
              <a:latin typeface="方正小标宋简体" panose="02000000000000000000" charset="-122"/>
              <a:ea typeface="方正小标宋简体" panose="02000000000000000000" charset="-122"/>
            </a:endParaRPr>
          </a:p>
        </p:txBody>
      </p:sp>
      <p:sp>
        <p:nvSpPr>
          <p:cNvPr id="4" name="文本框 3"/>
          <p:cNvSpPr txBox="true"/>
          <p:nvPr/>
        </p:nvSpPr>
        <p:spPr>
          <a:xfrm>
            <a:off x="95885" y="119380"/>
            <a:ext cx="109601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latin typeface="国标黑体" panose="02000500000000000000" charset="-122"/>
                <a:ea typeface="国标黑体" panose="02000500000000000000" charset="-122"/>
                <a:cs typeface="国标黑体" panose="02000500000000000000" charset="-122"/>
              </a:rPr>
              <a:t>附件</a:t>
            </a:r>
            <a:r>
              <a:rPr lang="en-US" altLang="zh-CN" sz="1600">
                <a:latin typeface="国标黑体" panose="02000500000000000000" charset="-122"/>
                <a:ea typeface="国标黑体" panose="02000500000000000000" charset="-122"/>
                <a:cs typeface="国标黑体" panose="02000500000000000000" charset="-122"/>
              </a:rPr>
              <a:t>12-4</a:t>
            </a:r>
            <a:endParaRPr lang="en-US" altLang="zh-CN" sz="1600">
              <a:latin typeface="国标黑体" panose="02000500000000000000" charset="-122"/>
              <a:ea typeface="国标黑体" panose="02000500000000000000" charset="-122"/>
              <a:cs typeface="国标黑体" panose="02000500000000000000" charset="-122"/>
            </a:endParaRPr>
          </a:p>
        </p:txBody>
      </p:sp>
      <p:sp>
        <p:nvSpPr>
          <p:cNvPr id="5175" name="文本框 3"/>
          <p:cNvSpPr txBox="true"/>
          <p:nvPr/>
        </p:nvSpPr>
        <p:spPr>
          <a:xfrm>
            <a:off x="2379980" y="848360"/>
            <a:ext cx="1086485" cy="337185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 anchorCtr="false">
            <a:spAutoFit/>
          </a:bodyPr>
          <a:p>
            <a:pPr algn="ctr"/>
            <a:r>
              <a:rPr lang="zh-CN" altLang="en-US" sz="1600">
                <a:latin typeface="CESI楷体-GB2312" panose="02000500000000000000" charset="-122"/>
                <a:ea typeface="CESI楷体-GB2312" panose="02000500000000000000" charset="-122"/>
              </a:rPr>
              <a:t>申报流程</a:t>
            </a:r>
            <a:endParaRPr lang="zh-CN" altLang="en-US" sz="1600">
              <a:latin typeface="CESI楷体-GB2312" panose="02000500000000000000" charset="-122"/>
              <a:ea typeface="CESI楷体-GB2312" panose="02000500000000000000" charset="-122"/>
            </a:endParaRPr>
          </a:p>
        </p:txBody>
      </p:sp>
      <p:sp>
        <p:nvSpPr>
          <p:cNvPr id="14" name="文本框 3"/>
          <p:cNvSpPr txBox="true"/>
          <p:nvPr/>
        </p:nvSpPr>
        <p:spPr>
          <a:xfrm>
            <a:off x="8728710" y="848360"/>
            <a:ext cx="1086485" cy="337185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 anchorCtr="false">
            <a:spAutoFit/>
          </a:bodyPr>
          <a:p>
            <a:pPr algn="ctr"/>
            <a:r>
              <a:rPr lang="zh-CN" altLang="en-US" sz="1600">
                <a:latin typeface="CESI楷体-GB2312" panose="02000500000000000000" charset="-122"/>
                <a:ea typeface="CESI楷体-GB2312" panose="02000500000000000000" charset="-122"/>
              </a:rPr>
              <a:t>审批流程</a:t>
            </a:r>
            <a:endParaRPr lang="zh-CN" altLang="en-US" sz="1600">
              <a:latin typeface="CESI楷体-GB2312" panose="02000500000000000000" charset="-122"/>
              <a:ea typeface="CESI楷体-GB2312" panose="02000500000000000000" charset="-122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7549515" y="1426845"/>
            <a:ext cx="3445510" cy="4823460"/>
            <a:chOff x="14263" y="1204"/>
            <a:chExt cx="4603" cy="8311"/>
          </a:xfrm>
        </p:grpSpPr>
        <p:sp>
          <p:nvSpPr>
            <p:cNvPr id="34" name="文本框 33"/>
            <p:cNvSpPr txBox="true"/>
            <p:nvPr/>
          </p:nvSpPr>
          <p:spPr>
            <a:xfrm>
              <a:off x="14473" y="3642"/>
              <a:ext cx="3007" cy="68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algn="ctr" fontAlgn="auto"/>
              <a:r>
                <a:rPr lang="zh-CN" altLang="en-US" sz="1000" b="1" noProof="1"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" panose="02080604020202020204" pitchFamily="34" charset="0"/>
                  <a:ea typeface="宋体" pitchFamily="2" charset="-122"/>
                  <a:cs typeface="+mn-cs"/>
                  <a:sym typeface="+mn-ea"/>
                </a:rPr>
                <a:t>第三方专业管理机构</a:t>
              </a:r>
              <a:endParaRPr lang="zh-CN" altLang="en-US" sz="1000" b="1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 algn="ctr" fontAlgn="auto"/>
              <a:r>
                <a:rPr lang="zh-CN" altLang="en-US" sz="1000" b="1" noProof="1"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" panose="02080604020202020204" pitchFamily="34" charset="0"/>
                  <a:ea typeface="宋体" pitchFamily="2" charset="-122"/>
                  <a:cs typeface="+mn-cs"/>
                  <a:sym typeface="+mn-ea"/>
                </a:rPr>
                <a:t>组织召开专家评审会论证</a:t>
              </a:r>
              <a:endParaRPr lang="zh-CN" altLang="en-US" sz="1000" b="1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endParaRPr>
            </a:p>
          </p:txBody>
        </p:sp>
        <p:grpSp>
          <p:nvGrpSpPr>
            <p:cNvPr id="43" name="组合 56"/>
            <p:cNvGrpSpPr/>
            <p:nvPr/>
          </p:nvGrpSpPr>
          <p:grpSpPr>
            <a:xfrm rot="0">
              <a:off x="14263" y="1204"/>
              <a:ext cx="3587" cy="8311"/>
              <a:chOff x="14415" y="850"/>
              <a:chExt cx="3586" cy="8310"/>
            </a:xfrm>
          </p:grpSpPr>
          <p:sp>
            <p:nvSpPr>
              <p:cNvPr id="51" name="矩形 50"/>
              <p:cNvSpPr/>
              <p:nvPr/>
            </p:nvSpPr>
            <p:spPr>
              <a:xfrm>
                <a:off x="14616" y="4374"/>
                <a:ext cx="3095" cy="855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>
                <a:scene3d>
                  <a:camera prst="orthographicFront"/>
                  <a:lightRig rig="threePt" dir="t"/>
                </a:scene3d>
              </a:bodyPr>
              <a:p>
                <a:pPr algn="ctr" fontAlgn="auto"/>
                <a:r>
                  <a:rPr lang="zh-CN" altLang="en-US" sz="1000" b="1" strike="noStrike" noProof="1"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论证意见提交专班办公室</a:t>
                </a:r>
                <a:endParaRPr lang="zh-CN" altLang="en-US" sz="1000" b="1" strike="noStrike" noProof="1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</p:txBody>
          </p:sp>
          <p:sp>
            <p:nvSpPr>
              <p:cNvPr id="59" name="矩形 58"/>
              <p:cNvSpPr/>
              <p:nvPr/>
            </p:nvSpPr>
            <p:spPr>
              <a:xfrm>
                <a:off x="14613" y="6712"/>
                <a:ext cx="3098" cy="1285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>
                <a:scene3d>
                  <a:camera prst="orthographicFront"/>
                  <a:lightRig rig="threePt" dir="t"/>
                </a:scene3d>
              </a:bodyPr>
              <a:p>
                <a:pPr algn="ctr" fontAlgn="auto"/>
                <a:r>
                  <a:rPr lang="zh-CN" altLang="en-US" sz="1000" b="1" strike="noStrike" noProof="1"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到公安机关申领号牌</a:t>
                </a:r>
                <a:endParaRPr lang="zh-CN" altLang="en-US" sz="1000" b="1" strike="noStrike" noProof="1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  <a:p>
                <a:pPr algn="ctr" fontAlgn="auto"/>
                <a:r>
                  <a:rPr lang="zh-CN" altLang="en-US" sz="1000" b="1" strike="noStrike" noProof="1"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（其中，商业化试点阶段号牌有效期为</a:t>
                </a:r>
                <a:r>
                  <a:rPr lang="en-US" altLang="zh-CN" sz="1000" b="1" strike="noStrike" noProof="1"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6</a:t>
                </a:r>
                <a:r>
                  <a:rPr lang="zh-CN" altLang="en-US" sz="1000" b="1" strike="noStrike" noProof="1"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个月，其他阶段号牌有效期为</a:t>
                </a:r>
                <a:r>
                  <a:rPr lang="en-US" altLang="zh-CN" sz="1000" b="1" strike="noStrike" noProof="1"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12</a:t>
                </a:r>
                <a:r>
                  <a:rPr lang="zh-CN" altLang="en-US" sz="1000" b="1" strike="noStrike" noProof="1"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个月）</a:t>
                </a:r>
                <a:endParaRPr lang="zh-CN" altLang="en-US" sz="1000" b="1" strike="noStrike" noProof="1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</p:txBody>
          </p:sp>
          <p:sp>
            <p:nvSpPr>
              <p:cNvPr id="60" name="矩形 59"/>
              <p:cNvSpPr/>
              <p:nvPr/>
            </p:nvSpPr>
            <p:spPr>
              <a:xfrm>
                <a:off x="14582" y="8305"/>
                <a:ext cx="3095" cy="855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>
                <a:scene3d>
                  <a:camera prst="orthographicFront"/>
                  <a:lightRig rig="threePt" dir="t"/>
                </a:scene3d>
              </a:bodyPr>
              <a:p>
                <a:pPr algn="ctr" fontAlgn="auto"/>
                <a:r>
                  <a:rPr lang="zh-CN" altLang="en-US" sz="1000" b="1" strike="noStrike" noProof="1"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安装监控装置并接受第三方</a:t>
                </a:r>
                <a:endParaRPr lang="zh-CN" altLang="en-US" sz="1000" b="1" strike="noStrike" noProof="1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  <a:p>
                <a:pPr algn="ctr" fontAlgn="auto"/>
                <a:r>
                  <a:rPr lang="zh-CN" altLang="en-US" sz="1000" b="1" strike="noStrike" noProof="1"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专业管理机构日常监管</a:t>
                </a:r>
                <a:endParaRPr lang="zh-CN" altLang="en-US" sz="1000" b="1" strike="noStrike" noProof="1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</p:txBody>
          </p:sp>
          <p:grpSp>
            <p:nvGrpSpPr>
              <p:cNvPr id="61" name="组合 55"/>
              <p:cNvGrpSpPr/>
              <p:nvPr/>
            </p:nvGrpSpPr>
            <p:grpSpPr>
              <a:xfrm>
                <a:off x="16143" y="1706"/>
                <a:ext cx="40" cy="6599"/>
                <a:chOff x="16143" y="1706"/>
                <a:chExt cx="40" cy="6599"/>
              </a:xfrm>
            </p:grpSpPr>
            <p:cxnSp>
              <p:nvCxnSpPr>
                <p:cNvPr id="62" name="直接箭头连接符 61"/>
                <p:cNvCxnSpPr>
                  <a:endCxn id="83" idx="0"/>
                </p:cNvCxnSpPr>
                <p:nvPr/>
              </p:nvCxnSpPr>
              <p:spPr>
                <a:xfrm>
                  <a:off x="16148" y="1706"/>
                  <a:ext cx="10" cy="308"/>
                </a:xfrm>
                <a:prstGeom prst="straightConnector1">
                  <a:avLst/>
                </a:prstGeom>
                <a:ln w="28575" cmpd="sng">
                  <a:solidFill>
                    <a:schemeClr val="accent1">
                      <a:shade val="50000"/>
                    </a:schemeClr>
                  </a:solidFill>
                  <a:prstDash val="solid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" name="直接箭头连接符 62"/>
                <p:cNvCxnSpPr>
                  <a:endCxn id="83" idx="0"/>
                </p:cNvCxnSpPr>
                <p:nvPr/>
              </p:nvCxnSpPr>
              <p:spPr>
                <a:xfrm>
                  <a:off x="16143" y="2866"/>
                  <a:ext cx="10" cy="308"/>
                </a:xfrm>
                <a:prstGeom prst="straightConnector1">
                  <a:avLst/>
                </a:prstGeom>
                <a:ln w="28575" cmpd="sng">
                  <a:solidFill>
                    <a:schemeClr val="accent1">
                      <a:shade val="50000"/>
                    </a:schemeClr>
                  </a:solidFill>
                  <a:prstDash val="solid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4" name="直接箭头连接符 63"/>
                <p:cNvCxnSpPr>
                  <a:endCxn id="83" idx="0"/>
                </p:cNvCxnSpPr>
                <p:nvPr/>
              </p:nvCxnSpPr>
              <p:spPr>
                <a:xfrm>
                  <a:off x="16153" y="4068"/>
                  <a:ext cx="10" cy="310"/>
                </a:xfrm>
                <a:prstGeom prst="straightConnector1">
                  <a:avLst/>
                </a:prstGeom>
                <a:ln w="28575" cmpd="sng">
                  <a:solidFill>
                    <a:schemeClr val="accent1">
                      <a:shade val="50000"/>
                    </a:schemeClr>
                  </a:solidFill>
                  <a:prstDash val="solid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" name="直接箭头连接符 65"/>
                <p:cNvCxnSpPr>
                  <a:endCxn id="83" idx="0"/>
                </p:cNvCxnSpPr>
                <p:nvPr/>
              </p:nvCxnSpPr>
              <p:spPr>
                <a:xfrm>
                  <a:off x="16163" y="5258"/>
                  <a:ext cx="10" cy="310"/>
                </a:xfrm>
                <a:prstGeom prst="straightConnector1">
                  <a:avLst/>
                </a:prstGeom>
                <a:ln w="28575" cmpd="sng">
                  <a:solidFill>
                    <a:schemeClr val="accent1">
                      <a:shade val="50000"/>
                    </a:schemeClr>
                  </a:solidFill>
                  <a:prstDash val="solid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7" name="直接箭头连接符 66"/>
                <p:cNvCxnSpPr>
                  <a:endCxn id="83" idx="0"/>
                </p:cNvCxnSpPr>
                <p:nvPr/>
              </p:nvCxnSpPr>
              <p:spPr>
                <a:xfrm>
                  <a:off x="16173" y="6393"/>
                  <a:ext cx="10" cy="310"/>
                </a:xfrm>
                <a:prstGeom prst="straightConnector1">
                  <a:avLst/>
                </a:prstGeom>
                <a:ln w="28575" cmpd="sng">
                  <a:solidFill>
                    <a:schemeClr val="accent1">
                      <a:shade val="50000"/>
                    </a:schemeClr>
                  </a:solidFill>
                  <a:prstDash val="solid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8" name="直接箭头连接符 67"/>
                <p:cNvCxnSpPr>
                  <a:endCxn id="83" idx="0"/>
                </p:cNvCxnSpPr>
                <p:nvPr/>
              </p:nvCxnSpPr>
              <p:spPr>
                <a:xfrm>
                  <a:off x="16148" y="7997"/>
                  <a:ext cx="10" cy="308"/>
                </a:xfrm>
                <a:prstGeom prst="straightConnector1">
                  <a:avLst/>
                </a:prstGeom>
                <a:ln w="28575" cmpd="sng">
                  <a:solidFill>
                    <a:schemeClr val="accent1">
                      <a:shade val="50000"/>
                    </a:schemeClr>
                  </a:solidFill>
                  <a:prstDash val="solid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9" name="矩形 68"/>
              <p:cNvSpPr/>
              <p:nvPr/>
            </p:nvSpPr>
            <p:spPr>
              <a:xfrm>
                <a:off x="14613" y="850"/>
                <a:ext cx="3096" cy="855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>
                <a:scene3d>
                  <a:camera prst="orthographicFront"/>
                  <a:lightRig rig="threePt" dir="t"/>
                </a:scene3d>
              </a:bodyPr>
              <a:p>
                <a:pPr algn="ctr" fontAlgn="auto"/>
                <a:r>
                  <a:rPr lang="zh-CN" altLang="en-US" sz="1000" b="1" strike="noStrike" noProof="1"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第三方专业管理机构</a:t>
                </a:r>
                <a:endParaRPr lang="zh-CN" altLang="en-US" sz="1000" b="1" strike="noStrike" noProof="1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  <a:p>
                <a:pPr algn="ctr" fontAlgn="auto"/>
                <a:r>
                  <a:rPr lang="zh-CN" altLang="en-US" sz="1000" b="1" strike="noStrike" noProof="1"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初</a:t>
                </a:r>
                <a:r>
                  <a:rPr lang="en-US" altLang="zh-CN" sz="1000" b="1" strike="noStrike" noProof="1"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  </a:t>
                </a:r>
                <a:r>
                  <a:rPr lang="zh-CN" altLang="en-US" sz="1000" b="1" strike="noStrike" noProof="1"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审</a:t>
                </a:r>
                <a:endParaRPr lang="zh-CN" altLang="en-US" sz="1000" b="1" strike="noStrike" noProof="1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</p:txBody>
          </p:sp>
          <p:grpSp>
            <p:nvGrpSpPr>
              <p:cNvPr id="70" name="组合 42"/>
              <p:cNvGrpSpPr/>
              <p:nvPr/>
            </p:nvGrpSpPr>
            <p:grpSpPr>
              <a:xfrm>
                <a:off x="14415" y="1986"/>
                <a:ext cx="3586" cy="881"/>
                <a:chOff x="8894" y="9156"/>
                <a:chExt cx="3283" cy="970"/>
              </a:xfrm>
            </p:grpSpPr>
            <p:sp>
              <p:nvSpPr>
                <p:cNvPr id="71" name="文本框 70"/>
                <p:cNvSpPr txBox="true"/>
                <p:nvPr/>
              </p:nvSpPr>
              <p:spPr>
                <a:xfrm>
                  <a:off x="8894" y="9327"/>
                  <a:ext cx="3283" cy="756"/>
                </a:xfrm>
                <a:prstGeom prst="rect">
                  <a:avLst/>
                </a:prstGeom>
                <a:noFill/>
              </p:spPr>
              <p:txBody>
                <a:bodyPr wrap="square" rtlCol="0" anchor="t">
                  <a:spAutoFit/>
                </a:bodyPr>
                <a:p>
                  <a:pPr algn="ctr" fontAlgn="auto"/>
                  <a:r>
                    <a:rPr lang="zh-CN" altLang="en-US" sz="1000" b="1" noProof="1">
                      <a:effectLst>
                        <a:outerShdw blurRad="38100" dist="19050" dir="2700000" algn="tl" rotWithShape="0">
                          <a:schemeClr val="dk1">
                            <a:alpha val="40000"/>
                          </a:schemeClr>
                        </a:outerShdw>
                      </a:effectLst>
                      <a:latin typeface="Arial" panose="02080604020202020204" pitchFamily="34" charset="0"/>
                      <a:ea typeface="宋体" pitchFamily="2" charset="-122"/>
                      <a:cs typeface="+mn-cs"/>
                      <a:sym typeface="+mn-ea"/>
                    </a:rPr>
                    <a:t>初审意见五个工作日内</a:t>
                  </a:r>
                  <a:endParaRPr lang="zh-CN" altLang="en-US" sz="1000" b="1" noProof="1"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endParaRPr>
                </a:p>
                <a:p>
                  <a:pPr algn="ctr" fontAlgn="auto"/>
                  <a:r>
                    <a:rPr lang="zh-CN" altLang="en-US" sz="1000" b="1" noProof="1">
                      <a:effectLst>
                        <a:outerShdw blurRad="38100" dist="19050" dir="2700000" algn="tl" rotWithShape="0">
                          <a:schemeClr val="dk1">
                            <a:alpha val="40000"/>
                          </a:schemeClr>
                        </a:outerShdw>
                      </a:effectLst>
                      <a:latin typeface="Arial" panose="02080604020202020204" pitchFamily="34" charset="0"/>
                      <a:ea typeface="宋体" pitchFamily="2" charset="-122"/>
                      <a:cs typeface="+mn-cs"/>
                      <a:sym typeface="+mn-ea"/>
                    </a:rPr>
                    <a:t>报专班办公室</a:t>
                  </a:r>
                  <a:endParaRPr lang="zh-CN" altLang="en-US" sz="1000" b="1" noProof="1"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sym typeface="+mn-ea"/>
                  </a:endParaRPr>
                </a:p>
              </p:txBody>
            </p:sp>
            <p:sp>
              <p:nvSpPr>
                <p:cNvPr id="72" name="菱形 71"/>
                <p:cNvSpPr/>
                <p:nvPr/>
              </p:nvSpPr>
              <p:spPr>
                <a:xfrm>
                  <a:off x="9094" y="9156"/>
                  <a:ext cx="2800" cy="970"/>
                </a:xfrm>
                <a:prstGeom prst="diamond">
                  <a:avLst/>
                </a:prstGeom>
                <a:noFill/>
                <a:ln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 fontAlgn="base"/>
                  <a:endParaRPr lang="zh-CN" altLang="en-US" strike="noStrike" noProof="1"/>
                </a:p>
              </p:txBody>
            </p:sp>
          </p:grpSp>
          <p:sp>
            <p:nvSpPr>
              <p:cNvPr id="73" name="菱形 72"/>
              <p:cNvSpPr/>
              <p:nvPr/>
            </p:nvSpPr>
            <p:spPr>
              <a:xfrm>
                <a:off x="14619" y="3160"/>
                <a:ext cx="3058" cy="881"/>
              </a:xfrm>
              <a:prstGeom prst="diamond">
                <a:avLst/>
              </a:prstGeom>
              <a:noFill/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 fontAlgn="base"/>
                <a:endParaRPr lang="zh-CN" altLang="en-US" strike="noStrike" noProof="1"/>
              </a:p>
            </p:txBody>
          </p:sp>
          <p:grpSp>
            <p:nvGrpSpPr>
              <p:cNvPr id="77" name="组合 49"/>
              <p:cNvGrpSpPr/>
              <p:nvPr/>
            </p:nvGrpSpPr>
            <p:grpSpPr>
              <a:xfrm>
                <a:off x="14635" y="5535"/>
                <a:ext cx="3058" cy="881"/>
                <a:chOff x="9600" y="9022"/>
                <a:chExt cx="3058" cy="881"/>
              </a:xfrm>
            </p:grpSpPr>
            <p:sp>
              <p:nvSpPr>
                <p:cNvPr id="79" name="文本框 78"/>
                <p:cNvSpPr txBox="true"/>
                <p:nvPr/>
              </p:nvSpPr>
              <p:spPr>
                <a:xfrm>
                  <a:off x="9878" y="9149"/>
                  <a:ext cx="2499" cy="687"/>
                </a:xfrm>
                <a:prstGeom prst="rect">
                  <a:avLst/>
                </a:prstGeom>
                <a:noFill/>
              </p:spPr>
              <p:txBody>
                <a:bodyPr wrap="square" rtlCol="0" anchor="t">
                  <a:spAutoFit/>
                </a:bodyPr>
                <a:p>
                  <a:pPr algn="ctr" fontAlgn="auto"/>
                  <a:r>
                    <a:rPr lang="zh-CN" altLang="en-US" sz="1000" b="1" noProof="1">
                      <a:effectLst>
                        <a:outerShdw blurRad="38100" dist="19050" dir="2700000" algn="tl" rotWithShape="0">
                          <a:schemeClr val="dk1">
                            <a:alpha val="40000"/>
                          </a:schemeClr>
                        </a:outerShdw>
                      </a:effectLst>
                      <a:latin typeface="Arial" panose="02080604020202020204" pitchFamily="34" charset="0"/>
                      <a:ea typeface="宋体" pitchFamily="2" charset="-122"/>
                      <a:cs typeface="+mn-cs"/>
                      <a:sym typeface="+mn-ea"/>
                    </a:rPr>
                    <a:t>专班办公室提请专班领导</a:t>
                  </a:r>
                  <a:endParaRPr lang="zh-CN" altLang="en-US" sz="1000" b="1" noProof="1"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sym typeface="+mn-ea"/>
                  </a:endParaRPr>
                </a:p>
                <a:p>
                  <a:pPr algn="ctr" fontAlgn="auto"/>
                  <a:r>
                    <a:rPr lang="zh-CN" altLang="en-US" sz="1000" b="1" noProof="1">
                      <a:effectLst>
                        <a:outerShdw blurRad="38100" dist="19050" dir="2700000" algn="tl" rotWithShape="0">
                          <a:schemeClr val="dk1">
                            <a:alpha val="40000"/>
                          </a:schemeClr>
                        </a:outerShdw>
                      </a:effectLst>
                      <a:latin typeface="Arial" panose="02080604020202020204" pitchFamily="34" charset="0"/>
                      <a:ea typeface="宋体" pitchFamily="2" charset="-122"/>
                      <a:cs typeface="+mn-cs"/>
                      <a:sym typeface="+mn-ea"/>
                    </a:rPr>
                    <a:t>召开专题会审议</a:t>
                  </a:r>
                  <a:endParaRPr lang="zh-CN" altLang="en-US" sz="1000" b="1" noProof="1"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sym typeface="+mn-ea"/>
                  </a:endParaRPr>
                </a:p>
              </p:txBody>
            </p:sp>
            <p:sp>
              <p:nvSpPr>
                <p:cNvPr id="80" name="菱形 79"/>
                <p:cNvSpPr/>
                <p:nvPr/>
              </p:nvSpPr>
              <p:spPr>
                <a:xfrm>
                  <a:off x="9600" y="9022"/>
                  <a:ext cx="3058" cy="881"/>
                </a:xfrm>
                <a:prstGeom prst="diamond">
                  <a:avLst/>
                </a:prstGeom>
                <a:noFill/>
                <a:ln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 fontAlgn="base"/>
                  <a:endParaRPr lang="zh-CN" altLang="en-US" strike="noStrike" noProof="1"/>
                </a:p>
              </p:txBody>
            </p:sp>
          </p:grpSp>
        </p:grpSp>
        <p:cxnSp>
          <p:nvCxnSpPr>
            <p:cNvPr id="81" name="肘形连接符 80"/>
            <p:cNvCxnSpPr>
              <a:stCxn id="72" idx="3"/>
              <a:endCxn id="69" idx="3"/>
            </p:cNvCxnSpPr>
            <p:nvPr/>
          </p:nvCxnSpPr>
          <p:spPr>
            <a:xfrm flipV="true">
              <a:off x="17541" y="1632"/>
              <a:ext cx="17" cy="1150"/>
            </a:xfrm>
            <a:prstGeom prst="bentConnector3">
              <a:avLst>
                <a:gd name="adj1" fmla="val 2305882"/>
              </a:avLst>
            </a:prstGeom>
            <a:ln w="28575" cmpd="sng">
              <a:solidFill>
                <a:schemeClr val="accent1">
                  <a:shade val="50000"/>
                </a:schemeClr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肘形连接符 81"/>
            <p:cNvCxnSpPr>
              <a:stCxn id="73" idx="3"/>
              <a:endCxn id="69" idx="3"/>
            </p:cNvCxnSpPr>
            <p:nvPr/>
          </p:nvCxnSpPr>
          <p:spPr>
            <a:xfrm flipV="true">
              <a:off x="17526" y="1632"/>
              <a:ext cx="32" cy="2325"/>
            </a:xfrm>
            <a:prstGeom prst="bentConnector3">
              <a:avLst>
                <a:gd name="adj1" fmla="val 2415625"/>
              </a:avLst>
            </a:prstGeom>
            <a:ln w="28575" cmpd="sng">
              <a:solidFill>
                <a:schemeClr val="accent1">
                  <a:shade val="50000"/>
                </a:schemeClr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肘形连接符 82"/>
            <p:cNvCxnSpPr>
              <a:stCxn id="80" idx="3"/>
              <a:endCxn id="69" idx="3"/>
            </p:cNvCxnSpPr>
            <p:nvPr/>
          </p:nvCxnSpPr>
          <p:spPr>
            <a:xfrm flipV="true">
              <a:off x="17541" y="1632"/>
              <a:ext cx="17" cy="4700"/>
            </a:xfrm>
            <a:prstGeom prst="bentConnector3">
              <a:avLst>
                <a:gd name="adj1" fmla="val 7306250"/>
              </a:avLst>
            </a:prstGeom>
            <a:ln w="28575" cmpd="sng">
              <a:solidFill>
                <a:schemeClr val="accent1">
                  <a:shade val="50000"/>
                </a:schemeClr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文本框 58"/>
            <p:cNvSpPr txBox="true"/>
            <p:nvPr/>
          </p:nvSpPr>
          <p:spPr>
            <a:xfrm>
              <a:off x="15543" y="3107"/>
              <a:ext cx="947" cy="42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false">
              <a:spAutoFit/>
            </a:bodyPr>
            <a:p>
              <a:r>
                <a:rPr lang="zh-CN" altLang="en-US" sz="1000">
                  <a:latin typeface="国标黑体" panose="02000500000000000000" charset="-122"/>
                  <a:ea typeface="国标黑体" panose="02000500000000000000" charset="-122"/>
                  <a:sym typeface="宋体" pitchFamily="2" charset="-122"/>
                </a:rPr>
                <a:t>同</a:t>
              </a:r>
              <a:r>
                <a:rPr lang="en-US" altLang="zh-CN" sz="1000">
                  <a:latin typeface="国标黑体" panose="02000500000000000000" charset="-122"/>
                  <a:ea typeface="国标黑体" panose="02000500000000000000" charset="-122"/>
                  <a:sym typeface="宋体" pitchFamily="2" charset="-122"/>
                </a:rPr>
                <a:t>    </a:t>
              </a:r>
              <a:r>
                <a:rPr lang="zh-CN" altLang="en-US" sz="1000">
                  <a:latin typeface="国标黑体" panose="02000500000000000000" charset="-122"/>
                  <a:ea typeface="国标黑体" panose="02000500000000000000" charset="-122"/>
                  <a:sym typeface="宋体" pitchFamily="2" charset="-122"/>
                </a:rPr>
                <a:t>意</a:t>
              </a:r>
              <a:endParaRPr lang="zh-CN" altLang="en-US" sz="1000">
                <a:latin typeface="国标黑体" panose="02000500000000000000" charset="-122"/>
                <a:ea typeface="国标黑体" panose="02000500000000000000" charset="-122"/>
              </a:endParaRPr>
            </a:p>
          </p:txBody>
        </p:sp>
        <p:sp>
          <p:nvSpPr>
            <p:cNvPr id="87" name="文本框 63"/>
            <p:cNvSpPr txBox="true"/>
            <p:nvPr/>
          </p:nvSpPr>
          <p:spPr>
            <a:xfrm>
              <a:off x="17561" y="1204"/>
              <a:ext cx="1145" cy="42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false">
              <a:spAutoFit/>
            </a:bodyPr>
            <a:p>
              <a:r>
                <a:rPr lang="zh-CN" altLang="zh-CN" sz="1000">
                  <a:latin typeface="国标黑体" panose="02000500000000000000" charset="-122"/>
                  <a:ea typeface="国标黑体" panose="02000500000000000000" charset="-122"/>
                  <a:sym typeface="宋体" pitchFamily="2" charset="-122"/>
                </a:rPr>
                <a:t>退回修改</a:t>
              </a:r>
              <a:endParaRPr lang="zh-CN" altLang="zh-CN" sz="1000">
                <a:latin typeface="国标黑体" panose="02000500000000000000" charset="-122"/>
                <a:ea typeface="国标黑体" panose="02000500000000000000" charset="-122"/>
              </a:endParaRPr>
            </a:p>
          </p:txBody>
        </p:sp>
        <p:sp>
          <p:nvSpPr>
            <p:cNvPr id="88" name="文本框 71"/>
            <p:cNvSpPr txBox="true"/>
            <p:nvPr/>
          </p:nvSpPr>
          <p:spPr>
            <a:xfrm>
              <a:off x="17561" y="1829"/>
              <a:ext cx="1305" cy="42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false">
              <a:spAutoFit/>
            </a:bodyPr>
            <a:p>
              <a:r>
                <a:rPr lang="zh-CN" altLang="en-US" sz="1000">
                  <a:latin typeface="国标黑体" panose="02000500000000000000" charset="-122"/>
                  <a:ea typeface="国标黑体" panose="02000500000000000000" charset="-122"/>
                  <a:sym typeface="宋体" pitchFamily="2" charset="-122"/>
                </a:rPr>
                <a:t>不</a:t>
              </a:r>
              <a:r>
                <a:rPr lang="en-US" altLang="zh-CN" sz="1000">
                  <a:latin typeface="国标黑体" panose="02000500000000000000" charset="-122"/>
                  <a:ea typeface="国标黑体" panose="02000500000000000000" charset="-122"/>
                  <a:sym typeface="宋体" pitchFamily="2" charset="-122"/>
                </a:rPr>
                <a:t>  </a:t>
              </a:r>
              <a:r>
                <a:rPr lang="zh-CN" altLang="en-US" sz="1000">
                  <a:latin typeface="国标黑体" panose="02000500000000000000" charset="-122"/>
                  <a:ea typeface="国标黑体" panose="02000500000000000000" charset="-122"/>
                  <a:sym typeface="宋体" pitchFamily="2" charset="-122"/>
                </a:rPr>
                <a:t>同</a:t>
              </a:r>
              <a:r>
                <a:rPr lang="en-US" altLang="zh-CN" sz="1000">
                  <a:latin typeface="国标黑体" panose="02000500000000000000" charset="-122"/>
                  <a:ea typeface="国标黑体" panose="02000500000000000000" charset="-122"/>
                  <a:sym typeface="宋体" pitchFamily="2" charset="-122"/>
                </a:rPr>
                <a:t>  </a:t>
              </a:r>
              <a:r>
                <a:rPr lang="zh-CN" altLang="en-US" sz="1000">
                  <a:latin typeface="国标黑体" panose="02000500000000000000" charset="-122"/>
                  <a:ea typeface="国标黑体" panose="02000500000000000000" charset="-122"/>
                  <a:sym typeface="宋体" pitchFamily="2" charset="-122"/>
                </a:rPr>
                <a:t>意</a:t>
              </a:r>
              <a:endParaRPr lang="zh-CN" altLang="en-US" sz="1000">
                <a:latin typeface="国标黑体" panose="02000500000000000000" charset="-122"/>
                <a:ea typeface="国标黑体" panose="02000500000000000000" charset="-122"/>
              </a:endParaRPr>
            </a:p>
          </p:txBody>
        </p:sp>
      </p:grpSp>
      <p:sp>
        <p:nvSpPr>
          <p:cNvPr id="89" name="文本框 58"/>
          <p:cNvSpPr txBox="true"/>
          <p:nvPr/>
        </p:nvSpPr>
        <p:spPr>
          <a:xfrm>
            <a:off x="8492401" y="3227250"/>
            <a:ext cx="708863" cy="244916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false">
            <a:spAutoFit/>
          </a:bodyPr>
          <a:p>
            <a:r>
              <a:rPr lang="zh-CN" altLang="en-US" sz="1000">
                <a:latin typeface="国标黑体" panose="02000500000000000000" charset="-122"/>
                <a:ea typeface="国标黑体" panose="02000500000000000000" charset="-122"/>
                <a:sym typeface="宋体" pitchFamily="2" charset="-122"/>
              </a:rPr>
              <a:t>同</a:t>
            </a:r>
            <a:r>
              <a:rPr lang="en-US" altLang="zh-CN" sz="1000">
                <a:latin typeface="国标黑体" panose="02000500000000000000" charset="-122"/>
                <a:ea typeface="国标黑体" panose="02000500000000000000" charset="-122"/>
                <a:sym typeface="宋体" pitchFamily="2" charset="-122"/>
              </a:rPr>
              <a:t>    </a:t>
            </a:r>
            <a:r>
              <a:rPr lang="zh-CN" altLang="en-US" sz="1000">
                <a:latin typeface="国标黑体" panose="02000500000000000000" charset="-122"/>
                <a:ea typeface="国标黑体" panose="02000500000000000000" charset="-122"/>
                <a:sym typeface="宋体" pitchFamily="2" charset="-122"/>
              </a:rPr>
              <a:t>意</a:t>
            </a:r>
            <a:endParaRPr lang="zh-CN" altLang="en-US" sz="1000">
              <a:latin typeface="国标黑体" panose="02000500000000000000" charset="-122"/>
              <a:ea typeface="国标黑体" panose="02000500000000000000" charset="-122"/>
            </a:endParaRPr>
          </a:p>
        </p:txBody>
      </p:sp>
      <p:sp>
        <p:nvSpPr>
          <p:cNvPr id="90" name="文本框 58"/>
          <p:cNvSpPr txBox="true"/>
          <p:nvPr/>
        </p:nvSpPr>
        <p:spPr>
          <a:xfrm>
            <a:off x="8503196" y="4584245"/>
            <a:ext cx="708863" cy="244916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false">
            <a:spAutoFit/>
          </a:bodyPr>
          <a:p>
            <a:r>
              <a:rPr lang="zh-CN" altLang="en-US" sz="1000">
                <a:latin typeface="国标黑体" panose="02000500000000000000" charset="-122"/>
                <a:ea typeface="国标黑体" panose="02000500000000000000" charset="-122"/>
                <a:sym typeface="宋体" pitchFamily="2" charset="-122"/>
              </a:rPr>
              <a:t>同</a:t>
            </a:r>
            <a:r>
              <a:rPr lang="en-US" altLang="zh-CN" sz="1000">
                <a:latin typeface="国标黑体" panose="02000500000000000000" charset="-122"/>
                <a:ea typeface="国标黑体" panose="02000500000000000000" charset="-122"/>
                <a:sym typeface="宋体" pitchFamily="2" charset="-122"/>
              </a:rPr>
              <a:t>    </a:t>
            </a:r>
            <a:r>
              <a:rPr lang="zh-CN" altLang="en-US" sz="1000">
                <a:latin typeface="国标黑体" panose="02000500000000000000" charset="-122"/>
                <a:ea typeface="国标黑体" panose="02000500000000000000" charset="-122"/>
                <a:sym typeface="宋体" pitchFamily="2" charset="-122"/>
              </a:rPr>
              <a:t>意</a:t>
            </a:r>
            <a:endParaRPr lang="zh-CN" altLang="en-US" sz="1000">
              <a:latin typeface="国标黑体" panose="02000500000000000000" charset="-122"/>
              <a:ea typeface="国标黑体" panose="02000500000000000000" charset="-122"/>
            </a:endParaRPr>
          </a:p>
        </p:txBody>
      </p:sp>
      <p:grpSp>
        <p:nvGrpSpPr>
          <p:cNvPr id="115" name="组合 114"/>
          <p:cNvGrpSpPr/>
          <p:nvPr/>
        </p:nvGrpSpPr>
        <p:grpSpPr>
          <a:xfrm>
            <a:off x="784225" y="1426845"/>
            <a:ext cx="4457700" cy="3510915"/>
            <a:chOff x="403" y="2349"/>
            <a:chExt cx="7020" cy="5529"/>
          </a:xfrm>
        </p:grpSpPr>
        <p:grpSp>
          <p:nvGrpSpPr>
            <p:cNvPr id="96" name="组合 95"/>
            <p:cNvGrpSpPr/>
            <p:nvPr/>
          </p:nvGrpSpPr>
          <p:grpSpPr>
            <a:xfrm>
              <a:off x="5175" y="2349"/>
              <a:ext cx="2248" cy="5529"/>
              <a:chOff x="3481" y="2501"/>
              <a:chExt cx="2248" cy="5529"/>
            </a:xfrm>
          </p:grpSpPr>
          <p:sp>
            <p:nvSpPr>
              <p:cNvPr id="16" name="矩形 15"/>
              <p:cNvSpPr/>
              <p:nvPr/>
            </p:nvSpPr>
            <p:spPr>
              <a:xfrm>
                <a:off x="3484" y="7175"/>
                <a:ext cx="2245" cy="855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>
                <a:scene3d>
                  <a:camera prst="orthographicFront"/>
                  <a:lightRig rig="threePt" dir="t"/>
                </a:scene3d>
              </a:bodyPr>
              <a:p>
                <a:pPr algn="ctr" fontAlgn="auto"/>
                <a:r>
                  <a:rPr lang="zh-CN" altLang="en-US" sz="1200" b="1" strike="noStrike" noProof="1">
                    <a:solidFill>
                      <a:schemeClr val="tx1"/>
                    </a:solidFill>
                    <a:effectLst/>
                  </a:rPr>
                  <a:t>商业化试点</a:t>
                </a:r>
                <a:endParaRPr lang="zh-CN" altLang="en-US" sz="1200" b="1" strike="noStrike" noProof="1">
                  <a:solidFill>
                    <a:schemeClr val="tx1"/>
                  </a:solidFill>
                  <a:effectLst/>
                </a:endParaRPr>
              </a:p>
            </p:txBody>
          </p:sp>
          <p:sp>
            <p:nvSpPr>
              <p:cNvPr id="55" name="矩形 54"/>
              <p:cNvSpPr/>
              <p:nvPr/>
            </p:nvSpPr>
            <p:spPr>
              <a:xfrm>
                <a:off x="3481" y="5618"/>
                <a:ext cx="2245" cy="855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>
                <a:scene3d>
                  <a:camera prst="orthographicFront"/>
                  <a:lightRig rig="threePt" dir="t"/>
                </a:scene3d>
              </a:bodyPr>
              <a:p>
                <a:pPr algn="ctr" fontAlgn="auto"/>
                <a:r>
                  <a:rPr lang="zh-CN" altLang="en-US" sz="1200" b="1" strike="noStrike" noProof="1">
                    <a:solidFill>
                      <a:schemeClr val="tx1"/>
                    </a:solidFill>
                    <a:effectLst/>
                  </a:rPr>
                  <a:t>示范应用</a:t>
                </a:r>
                <a:endParaRPr lang="zh-CN" altLang="en-US" sz="1200" b="1" strike="noStrike" noProof="1">
                  <a:solidFill>
                    <a:schemeClr val="tx1"/>
                  </a:solidFill>
                  <a:effectLst/>
                </a:endParaRPr>
              </a:p>
              <a:p>
                <a:pPr algn="ctr" fontAlgn="auto"/>
                <a:r>
                  <a:rPr lang="zh-CN" altLang="en-US" sz="1200" b="1" strike="noStrike" noProof="1">
                    <a:solidFill>
                      <a:schemeClr val="tx1"/>
                    </a:solidFill>
                    <a:effectLst/>
                  </a:rPr>
                  <a:t>（车内有安全员）</a:t>
                </a:r>
                <a:endParaRPr lang="zh-CN" altLang="en-US" sz="1200" b="1" strike="noStrike" noProof="1">
                  <a:solidFill>
                    <a:schemeClr val="tx1"/>
                  </a:solidFill>
                  <a:effectLst/>
                </a:endParaRPr>
              </a:p>
            </p:txBody>
          </p:sp>
          <p:sp>
            <p:nvSpPr>
              <p:cNvPr id="56" name="矩形 55"/>
              <p:cNvSpPr/>
              <p:nvPr/>
            </p:nvSpPr>
            <p:spPr>
              <a:xfrm>
                <a:off x="3482" y="4058"/>
                <a:ext cx="2245" cy="855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>
                <a:scene3d>
                  <a:camera prst="orthographicFront"/>
                  <a:lightRig rig="threePt" dir="t"/>
                </a:scene3d>
              </a:bodyPr>
              <a:p>
                <a:pPr algn="ctr" fontAlgn="auto"/>
                <a:r>
                  <a:rPr lang="zh-CN" altLang="en-US" sz="1200" b="1" strike="noStrike" noProof="1">
                    <a:solidFill>
                      <a:schemeClr val="tx1"/>
                    </a:solidFill>
                    <a:effectLst/>
                  </a:rPr>
                  <a:t>道路测试</a:t>
                </a:r>
                <a:endParaRPr lang="zh-CN" altLang="en-US" sz="1200" b="1" strike="noStrike" noProof="1">
                  <a:solidFill>
                    <a:schemeClr val="tx1"/>
                  </a:solidFill>
                  <a:effectLst/>
                </a:endParaRPr>
              </a:p>
              <a:p>
                <a:pPr algn="ctr" fontAlgn="auto"/>
                <a:r>
                  <a:rPr lang="zh-CN" altLang="en-US" sz="1200" b="1" strike="noStrike" noProof="1">
                    <a:solidFill>
                      <a:schemeClr val="tx1"/>
                    </a:solidFill>
                    <a:effectLst/>
                  </a:rPr>
                  <a:t>（车内有安全员）</a:t>
                </a:r>
                <a:endParaRPr lang="zh-CN" altLang="en-US" sz="1200" b="1" strike="noStrike" noProof="1">
                  <a:solidFill>
                    <a:schemeClr val="tx1"/>
                  </a:solidFill>
                  <a:effectLst/>
                </a:endParaRPr>
              </a:p>
            </p:txBody>
          </p:sp>
          <p:sp>
            <p:nvSpPr>
              <p:cNvPr id="58" name="矩形 57"/>
              <p:cNvSpPr/>
              <p:nvPr/>
            </p:nvSpPr>
            <p:spPr>
              <a:xfrm>
                <a:off x="3481" y="2501"/>
                <a:ext cx="2246" cy="855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>
                <a:scene3d>
                  <a:camera prst="orthographicFront"/>
                  <a:lightRig rig="threePt" dir="t"/>
                </a:scene3d>
              </a:bodyPr>
              <a:p>
                <a:pPr algn="ctr" fontAlgn="auto"/>
                <a:r>
                  <a:rPr lang="zh-CN" altLang="en-US" sz="1200" b="1" strike="noStrike" noProof="1">
                    <a:solidFill>
                      <a:schemeClr val="tx1"/>
                    </a:solidFill>
                    <a:effectLst/>
                  </a:rPr>
                  <a:t>申请主体</a:t>
                </a:r>
                <a:endParaRPr lang="zh-CN" altLang="en-US" sz="1200" b="1" strike="noStrike" noProof="1">
                  <a:solidFill>
                    <a:schemeClr val="tx1"/>
                  </a:solidFill>
                  <a:effectLst/>
                </a:endParaRPr>
              </a:p>
            </p:txBody>
          </p:sp>
          <p:cxnSp>
            <p:nvCxnSpPr>
              <p:cNvPr id="91" name="直接箭头连接符 90"/>
              <p:cNvCxnSpPr>
                <a:stCxn id="58" idx="2"/>
                <a:endCxn id="56" idx="0"/>
              </p:cNvCxnSpPr>
              <p:nvPr/>
            </p:nvCxnSpPr>
            <p:spPr>
              <a:xfrm>
                <a:off x="4604" y="3356"/>
                <a:ext cx="1" cy="702"/>
              </a:xfrm>
              <a:prstGeom prst="straightConnector1">
                <a:avLst/>
              </a:prstGeom>
              <a:ln w="28575" cmpd="sng">
                <a:solidFill>
                  <a:schemeClr val="accent1">
                    <a:shade val="50000"/>
                  </a:schemeClr>
                </a:solidFill>
                <a:prstDash val="soli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直接箭头连接符 91"/>
              <p:cNvCxnSpPr/>
              <p:nvPr/>
            </p:nvCxnSpPr>
            <p:spPr>
              <a:xfrm>
                <a:off x="4605" y="4913"/>
                <a:ext cx="1" cy="702"/>
              </a:xfrm>
              <a:prstGeom prst="straightConnector1">
                <a:avLst/>
              </a:prstGeom>
              <a:ln w="28575" cmpd="sng">
                <a:solidFill>
                  <a:schemeClr val="accent1">
                    <a:shade val="50000"/>
                  </a:schemeClr>
                </a:solidFill>
                <a:prstDash val="soli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直接箭头连接符 92"/>
              <p:cNvCxnSpPr/>
              <p:nvPr/>
            </p:nvCxnSpPr>
            <p:spPr>
              <a:xfrm>
                <a:off x="4606" y="6473"/>
                <a:ext cx="1" cy="702"/>
              </a:xfrm>
              <a:prstGeom prst="straightConnector1">
                <a:avLst/>
              </a:prstGeom>
              <a:ln w="28575" cmpd="sng">
                <a:solidFill>
                  <a:schemeClr val="accent1">
                    <a:shade val="50000"/>
                  </a:schemeClr>
                </a:solidFill>
                <a:prstDash val="soli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3" name="矩形 102"/>
            <p:cNvSpPr/>
            <p:nvPr/>
          </p:nvSpPr>
          <p:spPr>
            <a:xfrm>
              <a:off x="403" y="3206"/>
              <a:ext cx="3991" cy="711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p>
              <a:pPr algn="ctr" fontAlgn="auto"/>
              <a:r>
                <a:rPr lang="zh-CN" altLang="en-US" sz="1000" b="1">
                  <a:solidFill>
                    <a:schemeClr val="tx1"/>
                  </a:solidFill>
                  <a:effectLst/>
                  <a:sym typeface="+mn-ea"/>
                </a:rPr>
                <a:t>申报要求详见《规程》第一条</a:t>
              </a:r>
              <a:endParaRPr lang="zh-CN" altLang="en-US" sz="1000" b="1">
                <a:solidFill>
                  <a:schemeClr val="tx1"/>
                </a:solidFill>
                <a:effectLst/>
                <a:sym typeface="+mn-ea"/>
              </a:endParaRPr>
            </a:p>
            <a:p>
              <a:pPr algn="ctr" fontAlgn="auto"/>
              <a:r>
                <a:rPr lang="zh-CN" altLang="en-US" sz="1000" b="1">
                  <a:solidFill>
                    <a:schemeClr val="tx1"/>
                  </a:solidFill>
                  <a:effectLst/>
                  <a:sym typeface="+mn-ea"/>
                </a:rPr>
                <a:t>申请材料详见《规程》第六条</a:t>
              </a:r>
              <a:endParaRPr lang="zh-CN" altLang="en-US" sz="1000" b="1" strike="noStrike" noProof="1">
                <a:solidFill>
                  <a:schemeClr val="tx1"/>
                </a:solidFill>
                <a:effectLst/>
                <a:sym typeface="+mn-ea"/>
              </a:endParaRPr>
            </a:p>
          </p:txBody>
        </p:sp>
        <p:cxnSp>
          <p:nvCxnSpPr>
            <p:cNvPr id="104" name="直接连接符 103"/>
            <p:cNvCxnSpPr/>
            <p:nvPr/>
          </p:nvCxnSpPr>
          <p:spPr>
            <a:xfrm>
              <a:off x="4390" y="3553"/>
              <a:ext cx="1907" cy="3"/>
            </a:xfrm>
            <a:prstGeom prst="line">
              <a:avLst/>
            </a:prstGeom>
            <a:ln w="28575" cmpd="sng">
              <a:solidFill>
                <a:schemeClr val="accent1">
                  <a:shade val="50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5" name="矩形 104"/>
            <p:cNvSpPr/>
            <p:nvPr/>
          </p:nvSpPr>
          <p:spPr>
            <a:xfrm>
              <a:off x="403" y="4752"/>
              <a:ext cx="3991" cy="711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</a:bodyPr>
            <a:p>
              <a:pPr algn="ctr" fontAlgn="auto"/>
              <a:r>
                <a:rPr lang="zh-CN" altLang="en-US" sz="1000" b="1">
                  <a:sym typeface="+mn-ea"/>
                </a:rPr>
                <a:t>进阶要求详见《规程》第十七条</a:t>
              </a:r>
              <a:endParaRPr lang="zh-CN" altLang="en-US" sz="1000" b="1">
                <a:sym typeface="+mn-ea"/>
              </a:endParaRPr>
            </a:p>
            <a:p>
              <a:pPr algn="ctr" fontAlgn="auto"/>
              <a:r>
                <a:rPr lang="zh-CN" altLang="en-US" sz="1000" b="1">
                  <a:sym typeface="+mn-ea"/>
                </a:rPr>
                <a:t>申请材料详见《规程》第十九条</a:t>
              </a:r>
              <a:endParaRPr lang="zh-CN" altLang="en-US" sz="1000" b="1" strike="noStrike" noProof="1">
                <a:solidFill>
                  <a:schemeClr val="tx1"/>
                </a:solidFill>
                <a:effectLst/>
                <a:sym typeface="+mn-ea"/>
              </a:endParaRPr>
            </a:p>
          </p:txBody>
        </p:sp>
        <p:cxnSp>
          <p:nvCxnSpPr>
            <p:cNvPr id="106" name="直接连接符 105"/>
            <p:cNvCxnSpPr/>
            <p:nvPr/>
          </p:nvCxnSpPr>
          <p:spPr>
            <a:xfrm>
              <a:off x="4390" y="5099"/>
              <a:ext cx="1907" cy="3"/>
            </a:xfrm>
            <a:prstGeom prst="line">
              <a:avLst/>
            </a:prstGeom>
            <a:ln w="28575" cmpd="sng">
              <a:solidFill>
                <a:schemeClr val="accent1">
                  <a:shade val="50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接连接符 107"/>
            <p:cNvCxnSpPr/>
            <p:nvPr/>
          </p:nvCxnSpPr>
          <p:spPr>
            <a:xfrm>
              <a:off x="4386" y="6668"/>
              <a:ext cx="1907" cy="3"/>
            </a:xfrm>
            <a:prstGeom prst="line">
              <a:avLst/>
            </a:prstGeom>
            <a:ln w="28575" cmpd="sng">
              <a:solidFill>
                <a:schemeClr val="accent1">
                  <a:shade val="50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1" name="肘形连接符 110"/>
          <p:cNvCxnSpPr>
            <a:stCxn id="56" idx="3"/>
            <a:endCxn id="69" idx="1"/>
          </p:cNvCxnSpPr>
          <p:nvPr/>
        </p:nvCxnSpPr>
        <p:spPr>
          <a:xfrm flipV="true">
            <a:off x="5240655" y="1675130"/>
            <a:ext cx="2456815" cy="1012190"/>
          </a:xfrm>
          <a:prstGeom prst="bentConnector3">
            <a:avLst>
              <a:gd name="adj1" fmla="val 50013"/>
            </a:avLst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肘形连接符 111"/>
          <p:cNvCxnSpPr>
            <a:stCxn id="55" idx="3"/>
            <a:endCxn id="69" idx="1"/>
          </p:cNvCxnSpPr>
          <p:nvPr/>
        </p:nvCxnSpPr>
        <p:spPr>
          <a:xfrm flipV="true">
            <a:off x="5240020" y="1675130"/>
            <a:ext cx="2457450" cy="2002790"/>
          </a:xfrm>
          <a:prstGeom prst="bentConnector3">
            <a:avLst>
              <a:gd name="adj1" fmla="val 50000"/>
            </a:avLst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肘形连接符 112"/>
          <p:cNvCxnSpPr>
            <a:stCxn id="16" idx="3"/>
            <a:endCxn id="69" idx="1"/>
          </p:cNvCxnSpPr>
          <p:nvPr/>
        </p:nvCxnSpPr>
        <p:spPr>
          <a:xfrm flipV="true">
            <a:off x="5241925" y="1675130"/>
            <a:ext cx="2455545" cy="2991485"/>
          </a:xfrm>
          <a:prstGeom prst="bentConnector3">
            <a:avLst>
              <a:gd name="adj1" fmla="val 50013"/>
            </a:avLst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 flipH="true">
            <a:off x="6092190" y="848360"/>
            <a:ext cx="8255" cy="5755005"/>
          </a:xfrm>
          <a:prstGeom prst="line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788670" y="3937000"/>
            <a:ext cx="2529840" cy="47053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p>
            <a:pPr algn="ctr" fontAlgn="auto"/>
            <a:r>
              <a:rPr lang="zh-CN" altLang="en-US" sz="1000" b="1">
                <a:sym typeface="+mn-ea"/>
              </a:rPr>
              <a:t>进阶要求详见《规程》第三十至三十一条</a:t>
            </a:r>
            <a:endParaRPr lang="zh-CN" altLang="en-US" sz="1000" b="1">
              <a:sym typeface="+mn-ea"/>
            </a:endParaRPr>
          </a:p>
          <a:p>
            <a:pPr algn="ctr" fontAlgn="auto"/>
            <a:r>
              <a:rPr lang="zh-CN" altLang="en-US" sz="1000" b="1">
                <a:sym typeface="+mn-ea"/>
              </a:rPr>
              <a:t>申请材料详见《规程》第三十四条</a:t>
            </a:r>
            <a:endParaRPr lang="zh-CN" altLang="en-US" sz="1000" b="1" strike="noStrike" noProof="1">
              <a:solidFill>
                <a:schemeClr val="tx1"/>
              </a:solidFill>
              <a:effectLst/>
              <a:sym typeface="+mn-ea"/>
            </a:endParaRPr>
          </a:p>
        </p:txBody>
      </p:sp>
      <p:sp>
        <p:nvSpPr>
          <p:cNvPr id="2" name="文本框 1"/>
          <p:cNvSpPr txBox="true"/>
          <p:nvPr/>
        </p:nvSpPr>
        <p:spPr>
          <a:xfrm>
            <a:off x="11250930" y="6413500"/>
            <a:ext cx="77597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latin typeface="+mn-ea"/>
              </a:rPr>
              <a:t>- 39 -</a:t>
            </a:r>
            <a:endParaRPr lang="en-US" altLang="zh-CN" sz="1200">
              <a:latin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宋体"/>
        <a:font script="Hant" typeface="新細明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false"/>
        </a:gradFill>
        <a:gradFill rotWithShape="true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false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true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false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false"/>
        </a:gradFill>
        <a:gradFill rotWithShape="true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false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true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false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false"/>
        </a:gradFill>
        <a:gradFill rotWithShape="true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false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true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false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1317</Words>
  <Application>WPS 演示</Application>
  <PresentationFormat>宽屏</PresentationFormat>
  <Paragraphs>233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8" baseType="lpstr">
      <vt:lpstr>Arial</vt:lpstr>
      <vt:lpstr>宋体</vt:lpstr>
      <vt:lpstr>Wingdings</vt:lpstr>
      <vt:lpstr>DejaVu Sans</vt:lpstr>
      <vt:lpstr>方正小标宋简体</vt:lpstr>
      <vt:lpstr>国标黑体</vt:lpstr>
      <vt:lpstr>CESI楷体-GB2312</vt:lpstr>
      <vt:lpstr>微软雅黑</vt:lpstr>
      <vt:lpstr>方正黑体_GBK</vt:lpstr>
      <vt:lpstr>宋体</vt:lpstr>
      <vt:lpstr>Arial Unicode MS</vt:lpstr>
      <vt:lpstr>方正书宋_GBK</vt:lpstr>
      <vt:lpstr>Arial Black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董沛霖</dc:creator>
  <cp:lastModifiedBy>董沛霖</cp:lastModifiedBy>
  <cp:revision>4</cp:revision>
  <dcterms:created xsi:type="dcterms:W3CDTF">2026-04-07T08:28:19Z</dcterms:created>
  <dcterms:modified xsi:type="dcterms:W3CDTF">2026-04-07T08:28:19Z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2052-11.8.2.10337</vt:lpwstr>
  </property>
</Properties>
</file>